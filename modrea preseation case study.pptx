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702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0C9A7"/>
          </a:solidFill>
          <a:ln/>
        </p:spPr>
      </p:sp>
      <p:sp>
        <p:nvSpPr>
          <p:cNvPr id="3" name="Shape 1"/>
          <p:cNvSpPr/>
          <p:nvPr/>
        </p:nvSpPr>
        <p:spPr>
          <a:xfrm>
            <a:off x="7772400" y="457200"/>
            <a:ext cx="228600" cy="228600"/>
          </a:xfrm>
          <a:prstGeom prst="ellipse">
            <a:avLst/>
          </a:prstGeom>
          <a:solidFill>
            <a:srgbClr val="00C9A7">
              <a:alpha val="40000"/>
            </a:srgbClr>
          </a:solidFill>
          <a:ln w="12700">
            <a:solidFill>
              <a:srgbClr val="00C9A7"/>
            </a:solidFill>
            <a:prstDash val="solid"/>
          </a:ln>
        </p:spPr>
      </p:sp>
      <p:sp>
        <p:nvSpPr>
          <p:cNvPr id="4" name="Shape 2"/>
          <p:cNvSpPr/>
          <p:nvPr/>
        </p:nvSpPr>
        <p:spPr>
          <a:xfrm>
            <a:off x="8046720" y="1005840"/>
            <a:ext cx="228600" cy="228600"/>
          </a:xfrm>
          <a:prstGeom prst="ellipse">
            <a:avLst/>
          </a:prstGeom>
          <a:solidFill>
            <a:srgbClr val="00C9A7">
              <a:alpha val="40000"/>
            </a:srgbClr>
          </a:solidFill>
          <a:ln w="12700">
            <a:solidFill>
              <a:srgbClr val="00C9A7"/>
            </a:solidFill>
            <a:prstDash val="solid"/>
          </a:ln>
        </p:spPr>
      </p:sp>
      <p:sp>
        <p:nvSpPr>
          <p:cNvPr id="5" name="Shape 3"/>
          <p:cNvSpPr/>
          <p:nvPr/>
        </p:nvSpPr>
        <p:spPr>
          <a:xfrm>
            <a:off x="7772400" y="1554480"/>
            <a:ext cx="228600" cy="228600"/>
          </a:xfrm>
          <a:prstGeom prst="ellipse">
            <a:avLst/>
          </a:prstGeom>
          <a:solidFill>
            <a:srgbClr val="00C9A7">
              <a:alpha val="40000"/>
            </a:srgbClr>
          </a:solidFill>
          <a:ln w="12700">
            <a:solidFill>
              <a:srgbClr val="00C9A7"/>
            </a:solidFill>
            <a:prstDash val="solid"/>
          </a:ln>
        </p:spPr>
      </p:sp>
      <p:sp>
        <p:nvSpPr>
          <p:cNvPr id="6" name="Shape 4"/>
          <p:cNvSpPr/>
          <p:nvPr/>
        </p:nvSpPr>
        <p:spPr>
          <a:xfrm>
            <a:off x="8046720" y="2103120"/>
            <a:ext cx="228600" cy="228600"/>
          </a:xfrm>
          <a:prstGeom prst="ellipse">
            <a:avLst/>
          </a:prstGeom>
          <a:solidFill>
            <a:srgbClr val="00C9A7">
              <a:alpha val="40000"/>
            </a:srgbClr>
          </a:solidFill>
          <a:ln w="12700">
            <a:solidFill>
              <a:srgbClr val="00C9A7"/>
            </a:solidFill>
            <a:prstDash val="solid"/>
          </a:ln>
        </p:spPr>
      </p:sp>
      <p:sp>
        <p:nvSpPr>
          <p:cNvPr id="7" name="Shape 5"/>
          <p:cNvSpPr/>
          <p:nvPr/>
        </p:nvSpPr>
        <p:spPr>
          <a:xfrm>
            <a:off x="7772400" y="2651760"/>
            <a:ext cx="228600" cy="228600"/>
          </a:xfrm>
          <a:prstGeom prst="ellipse">
            <a:avLst/>
          </a:prstGeom>
          <a:solidFill>
            <a:srgbClr val="00C9A7">
              <a:alpha val="40000"/>
            </a:srgbClr>
          </a:solidFill>
          <a:ln w="12700">
            <a:solidFill>
              <a:srgbClr val="00C9A7"/>
            </a:solidFill>
            <a:prstDash val="solid"/>
          </a:ln>
        </p:spPr>
      </p:sp>
      <p:sp>
        <p:nvSpPr>
          <p:cNvPr id="8" name="Shape 6"/>
          <p:cNvSpPr/>
          <p:nvPr/>
        </p:nvSpPr>
        <p:spPr>
          <a:xfrm>
            <a:off x="8046720" y="3200400"/>
            <a:ext cx="228600" cy="228600"/>
          </a:xfrm>
          <a:prstGeom prst="ellipse">
            <a:avLst/>
          </a:prstGeom>
          <a:solidFill>
            <a:srgbClr val="00C9A7">
              <a:alpha val="40000"/>
            </a:srgbClr>
          </a:solidFill>
          <a:ln w="12700">
            <a:solidFill>
              <a:srgbClr val="00C9A7"/>
            </a:solidFill>
            <a:prstDash val="solid"/>
          </a:ln>
        </p:spPr>
      </p:sp>
      <p:sp>
        <p:nvSpPr>
          <p:cNvPr id="9" name="Shape 7"/>
          <p:cNvSpPr/>
          <p:nvPr/>
        </p:nvSpPr>
        <p:spPr>
          <a:xfrm>
            <a:off x="7772400" y="3749040"/>
            <a:ext cx="228600" cy="228600"/>
          </a:xfrm>
          <a:prstGeom prst="ellipse">
            <a:avLst/>
          </a:prstGeom>
          <a:solidFill>
            <a:srgbClr val="00C9A7">
              <a:alpha val="40000"/>
            </a:srgbClr>
          </a:solidFill>
          <a:ln w="12700">
            <a:solidFill>
              <a:srgbClr val="00C9A7"/>
            </a:solidFill>
            <a:prstDash val="solid"/>
          </a:ln>
        </p:spPr>
      </p:sp>
      <p:sp>
        <p:nvSpPr>
          <p:cNvPr id="10" name="Shape 8"/>
          <p:cNvSpPr/>
          <p:nvPr/>
        </p:nvSpPr>
        <p:spPr>
          <a:xfrm>
            <a:off x="8046720" y="4297680"/>
            <a:ext cx="228600" cy="228600"/>
          </a:xfrm>
          <a:prstGeom prst="ellipse">
            <a:avLst/>
          </a:prstGeom>
          <a:solidFill>
            <a:srgbClr val="00C9A7">
              <a:alpha val="40000"/>
            </a:srgbClr>
          </a:solidFill>
          <a:ln w="12700">
            <a:solidFill>
              <a:srgbClr val="00C9A7"/>
            </a:solidFill>
            <a:prstDash val="solid"/>
          </a:ln>
        </p:spPr>
      </p:sp>
      <p:sp>
        <p:nvSpPr>
          <p:cNvPr id="11" name="Text 9"/>
          <p:cNvSpPr/>
          <p:nvPr/>
        </p:nvSpPr>
        <p:spPr>
          <a:xfrm>
            <a:off x="457200" y="548640"/>
            <a:ext cx="7315200" cy="365760"/>
          </a:xfrm>
          <a:prstGeom prst="rect">
            <a:avLst/>
          </a:prstGeom>
          <a:noFill/>
          <a:ln/>
        </p:spPr>
        <p:txBody>
          <a:bodyPr wrap="square" rtlCol="0" anchor="ctr"/>
          <a:lstStyle/>
          <a:p>
            <a:pPr marL="0" indent="0">
              <a:buNone/>
            </a:pPr>
            <a:r>
              <a:rPr lang="en-US" sz="1100" b="1" kern="0" spc="500" dirty="0">
                <a:solidFill>
                  <a:srgbClr val="00C9A7"/>
                </a:solidFill>
              </a:rPr>
              <a:t>BIOTECHNOLOGY</a:t>
            </a:r>
            <a:endParaRPr lang="en-US" sz="1100" dirty="0"/>
          </a:p>
        </p:txBody>
      </p:sp>
      <p:sp>
        <p:nvSpPr>
          <p:cNvPr id="12" name="Text 10"/>
          <p:cNvSpPr/>
          <p:nvPr/>
        </p:nvSpPr>
        <p:spPr>
          <a:xfrm>
            <a:off x="457200" y="914400"/>
            <a:ext cx="7315200" cy="320040"/>
          </a:xfrm>
          <a:prstGeom prst="rect">
            <a:avLst/>
          </a:prstGeom>
          <a:noFill/>
          <a:ln/>
        </p:spPr>
        <p:txBody>
          <a:bodyPr wrap="square" rtlCol="0" anchor="ctr"/>
          <a:lstStyle/>
          <a:p>
            <a:pPr marL="0" indent="0">
              <a:buNone/>
            </a:pPr>
            <a:r>
              <a:rPr lang="en-US" sz="1000" kern="0" spc="300" dirty="0">
                <a:solidFill>
                  <a:srgbClr val="8C9BAD"/>
                </a:solidFill>
              </a:rPr>
              <a:t>CASE STUDY</a:t>
            </a:r>
            <a:endParaRPr lang="en-US" sz="1000" dirty="0"/>
          </a:p>
        </p:txBody>
      </p:sp>
      <p:sp>
        <p:nvSpPr>
          <p:cNvPr id="13" name="Text 11"/>
          <p:cNvSpPr/>
          <p:nvPr/>
        </p:nvSpPr>
        <p:spPr>
          <a:xfrm>
            <a:off x="457200" y="1463040"/>
            <a:ext cx="7772400" cy="1371600"/>
          </a:xfrm>
          <a:prstGeom prst="rect">
            <a:avLst/>
          </a:prstGeom>
          <a:noFill/>
          <a:ln/>
        </p:spPr>
        <p:txBody>
          <a:bodyPr wrap="square" rtlCol="0" anchor="ctr"/>
          <a:lstStyle/>
          <a:p>
            <a:pPr marL="0" indent="0">
              <a:buNone/>
            </a:pPr>
            <a:r>
              <a:rPr lang="en-US" sz="7200" b="1" dirty="0">
                <a:solidFill>
                  <a:srgbClr val="FFFFFF"/>
                </a:solidFill>
                <a:latin typeface="Georgia" pitchFamily="34" charset="0"/>
                <a:ea typeface="Georgia" pitchFamily="34" charset="-122"/>
                <a:cs typeface="Georgia" pitchFamily="34" charset="-120"/>
              </a:rPr>
              <a:t>Moderna</a:t>
            </a:r>
            <a:endParaRPr lang="en-US" sz="7200" dirty="0"/>
          </a:p>
        </p:txBody>
      </p:sp>
      <p:sp>
        <p:nvSpPr>
          <p:cNvPr id="14" name="Text 12"/>
          <p:cNvSpPr/>
          <p:nvPr/>
        </p:nvSpPr>
        <p:spPr>
          <a:xfrm>
            <a:off x="457200" y="2743200"/>
            <a:ext cx="6858000" cy="548640"/>
          </a:xfrm>
          <a:prstGeom prst="rect">
            <a:avLst/>
          </a:prstGeom>
          <a:noFill/>
          <a:ln/>
        </p:spPr>
        <p:txBody>
          <a:bodyPr wrap="square" rtlCol="0" anchor="ctr"/>
          <a:lstStyle/>
          <a:p>
            <a:pPr marL="0" indent="0">
              <a:buNone/>
            </a:pPr>
            <a:r>
              <a:rPr lang="en-US" sz="1800" i="1" dirty="0">
                <a:solidFill>
                  <a:srgbClr val="E0F9F4"/>
                </a:solidFill>
                <a:latin typeface="Calibri" pitchFamily="34" charset="0"/>
                <a:ea typeface="Calibri" pitchFamily="34" charset="-122"/>
                <a:cs typeface="Calibri" pitchFamily="34" charset="-120"/>
              </a:rPr>
              <a:t>Revolutionizing Medicine Through mRNA Technology</a:t>
            </a:r>
            <a:endParaRPr lang="en-US" sz="1800" dirty="0"/>
          </a:p>
        </p:txBody>
      </p:sp>
      <p:sp>
        <p:nvSpPr>
          <p:cNvPr id="15" name="Shape 13"/>
          <p:cNvSpPr/>
          <p:nvPr/>
        </p:nvSpPr>
        <p:spPr>
          <a:xfrm>
            <a:off x="329609" y="4560570"/>
            <a:ext cx="8743507" cy="571500"/>
          </a:xfrm>
          <a:prstGeom prst="rect">
            <a:avLst/>
          </a:prstGeom>
          <a:solidFill>
            <a:srgbClr val="102040"/>
          </a:solidFill>
          <a:ln/>
        </p:spPr>
      </p:sp>
      <p:sp>
        <p:nvSpPr>
          <p:cNvPr id="16" name="Text 14"/>
          <p:cNvSpPr/>
          <p:nvPr/>
        </p:nvSpPr>
        <p:spPr>
          <a:xfrm>
            <a:off x="457200" y="4617720"/>
            <a:ext cx="8229600" cy="457200"/>
          </a:xfrm>
          <a:prstGeom prst="rect">
            <a:avLst/>
          </a:prstGeom>
          <a:noFill/>
          <a:ln/>
        </p:spPr>
        <p:txBody>
          <a:bodyPr wrap="square" rtlCol="0" anchor="ctr"/>
          <a:lstStyle/>
          <a:p>
            <a:pPr marL="0" indent="0">
              <a:buNone/>
            </a:pP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rPr>
              <a:t>COMPANY OVERVIEW</a:t>
            </a:r>
            <a:endParaRPr lang="en-US" sz="2200" dirty="0"/>
          </a:p>
        </p:txBody>
      </p:sp>
      <p:sp>
        <p:nvSpPr>
          <p:cNvPr id="4" name="Shape 2"/>
          <p:cNvSpPr/>
          <p:nvPr/>
        </p:nvSpPr>
        <p:spPr>
          <a:xfrm>
            <a:off x="274320" y="1097280"/>
            <a:ext cx="1920240" cy="1371600"/>
          </a:xfrm>
          <a:prstGeom prst="rect">
            <a:avLst/>
          </a:prstGeom>
          <a:solidFill>
            <a:srgbClr val="F4F6F9"/>
          </a:solidFill>
          <a:ln w="12700">
            <a:solidFill>
              <a:srgbClr val="E0E6EF"/>
            </a:solidFill>
            <a:prstDash val="solid"/>
          </a:ln>
        </p:spPr>
      </p:sp>
      <p:sp>
        <p:nvSpPr>
          <p:cNvPr id="5" name="Text 3"/>
          <p:cNvSpPr/>
          <p:nvPr/>
        </p:nvSpPr>
        <p:spPr>
          <a:xfrm>
            <a:off x="274320" y="1188720"/>
            <a:ext cx="1920240" cy="594360"/>
          </a:xfrm>
          <a:prstGeom prst="rect">
            <a:avLst/>
          </a:prstGeom>
          <a:noFill/>
          <a:ln/>
        </p:spPr>
        <p:txBody>
          <a:bodyPr wrap="square" rtlCol="0" anchor="ctr"/>
          <a:lstStyle/>
          <a:p>
            <a:pPr marL="0" indent="0" algn="ctr">
              <a:buNone/>
            </a:pPr>
            <a:r>
              <a:rPr lang="en-US" sz="2000" b="1" dirty="0">
                <a:solidFill>
                  <a:srgbClr val="0A1628"/>
                </a:solidFill>
              </a:rPr>
              <a:t>2010</a:t>
            </a:r>
            <a:endParaRPr lang="en-US" sz="2000" dirty="0"/>
          </a:p>
        </p:txBody>
      </p:sp>
      <p:sp>
        <p:nvSpPr>
          <p:cNvPr id="6" name="Text 4"/>
          <p:cNvSpPr/>
          <p:nvPr/>
        </p:nvSpPr>
        <p:spPr>
          <a:xfrm>
            <a:off x="274320" y="1755648"/>
            <a:ext cx="1920240" cy="548640"/>
          </a:xfrm>
          <a:prstGeom prst="rect">
            <a:avLst/>
          </a:prstGeom>
          <a:noFill/>
          <a:ln/>
        </p:spPr>
        <p:txBody>
          <a:bodyPr wrap="square" rtlCol="0" anchor="ctr"/>
          <a:lstStyle/>
          <a:p>
            <a:pPr marL="0" indent="0" algn="ctr">
              <a:buNone/>
            </a:pPr>
            <a:r>
              <a:rPr lang="en-US" sz="1100" dirty="0">
                <a:solidFill>
                  <a:srgbClr val="8C9BAD"/>
                </a:solidFill>
              </a:rPr>
              <a:t>Founded</a:t>
            </a:r>
            <a:endParaRPr lang="en-US" sz="1100" dirty="0"/>
          </a:p>
        </p:txBody>
      </p:sp>
      <p:sp>
        <p:nvSpPr>
          <p:cNvPr id="7" name="Shape 5"/>
          <p:cNvSpPr/>
          <p:nvPr/>
        </p:nvSpPr>
        <p:spPr>
          <a:xfrm>
            <a:off x="2468880" y="1097280"/>
            <a:ext cx="1920240" cy="1371600"/>
          </a:xfrm>
          <a:prstGeom prst="rect">
            <a:avLst/>
          </a:prstGeom>
          <a:solidFill>
            <a:srgbClr val="F4F6F9"/>
          </a:solidFill>
          <a:ln w="12700">
            <a:solidFill>
              <a:srgbClr val="E0E6EF"/>
            </a:solidFill>
            <a:prstDash val="solid"/>
          </a:ln>
        </p:spPr>
      </p:sp>
      <p:sp>
        <p:nvSpPr>
          <p:cNvPr id="8" name="Text 6"/>
          <p:cNvSpPr/>
          <p:nvPr/>
        </p:nvSpPr>
        <p:spPr>
          <a:xfrm>
            <a:off x="2468880" y="1188720"/>
            <a:ext cx="1920240" cy="594360"/>
          </a:xfrm>
          <a:prstGeom prst="rect">
            <a:avLst/>
          </a:prstGeom>
          <a:noFill/>
          <a:ln/>
        </p:spPr>
        <p:txBody>
          <a:bodyPr wrap="square" rtlCol="0" anchor="ctr"/>
          <a:lstStyle/>
          <a:p>
            <a:pPr marL="0" indent="0" algn="ctr">
              <a:buNone/>
            </a:pPr>
            <a:r>
              <a:rPr lang="en-US" sz="2000" b="1" dirty="0">
                <a:solidFill>
                  <a:srgbClr val="0A1628"/>
                </a:solidFill>
              </a:rPr>
              <a:t>Cambridge</a:t>
            </a:r>
            <a:endParaRPr lang="en-US" sz="2000" dirty="0"/>
          </a:p>
        </p:txBody>
      </p:sp>
      <p:sp>
        <p:nvSpPr>
          <p:cNvPr id="9" name="Text 7"/>
          <p:cNvSpPr/>
          <p:nvPr/>
        </p:nvSpPr>
        <p:spPr>
          <a:xfrm>
            <a:off x="2468880" y="1755648"/>
            <a:ext cx="1920240" cy="548640"/>
          </a:xfrm>
          <a:prstGeom prst="rect">
            <a:avLst/>
          </a:prstGeom>
          <a:noFill/>
          <a:ln/>
        </p:spPr>
        <p:txBody>
          <a:bodyPr wrap="square" rtlCol="0" anchor="ctr"/>
          <a:lstStyle/>
          <a:p>
            <a:pPr marL="0" indent="0" algn="ctr">
              <a:buNone/>
            </a:pPr>
            <a:r>
              <a:rPr lang="en-US" sz="1100" dirty="0">
                <a:solidFill>
                  <a:srgbClr val="8C9BAD"/>
                </a:solidFill>
              </a:rPr>
              <a:t>HQ, Massachusetts</a:t>
            </a:r>
            <a:endParaRPr lang="en-US" sz="1100" dirty="0"/>
          </a:p>
        </p:txBody>
      </p:sp>
      <p:sp>
        <p:nvSpPr>
          <p:cNvPr id="10" name="Shape 8"/>
          <p:cNvSpPr/>
          <p:nvPr/>
        </p:nvSpPr>
        <p:spPr>
          <a:xfrm>
            <a:off x="4663440" y="1097280"/>
            <a:ext cx="1920240" cy="1371600"/>
          </a:xfrm>
          <a:prstGeom prst="rect">
            <a:avLst/>
          </a:prstGeom>
          <a:solidFill>
            <a:srgbClr val="F4F6F9"/>
          </a:solidFill>
          <a:ln w="12700">
            <a:solidFill>
              <a:srgbClr val="E0E6EF"/>
            </a:solidFill>
            <a:prstDash val="solid"/>
          </a:ln>
        </p:spPr>
      </p:sp>
      <p:sp>
        <p:nvSpPr>
          <p:cNvPr id="11" name="Text 9"/>
          <p:cNvSpPr/>
          <p:nvPr/>
        </p:nvSpPr>
        <p:spPr>
          <a:xfrm>
            <a:off x="4663440" y="1188720"/>
            <a:ext cx="1920240" cy="594360"/>
          </a:xfrm>
          <a:prstGeom prst="rect">
            <a:avLst/>
          </a:prstGeom>
          <a:noFill/>
          <a:ln/>
        </p:spPr>
        <p:txBody>
          <a:bodyPr wrap="square" rtlCol="0" anchor="ctr"/>
          <a:lstStyle/>
          <a:p>
            <a:pPr marL="0" indent="0" algn="ctr">
              <a:buNone/>
            </a:pPr>
            <a:r>
              <a:rPr lang="en-US" sz="2000" b="1" dirty="0">
                <a:solidFill>
                  <a:srgbClr val="0A1628"/>
                </a:solidFill>
              </a:rPr>
              <a:t>~5,000+</a:t>
            </a:r>
            <a:endParaRPr lang="en-US" sz="2000" dirty="0"/>
          </a:p>
        </p:txBody>
      </p:sp>
      <p:sp>
        <p:nvSpPr>
          <p:cNvPr id="12" name="Text 10"/>
          <p:cNvSpPr/>
          <p:nvPr/>
        </p:nvSpPr>
        <p:spPr>
          <a:xfrm>
            <a:off x="4663440" y="1755648"/>
            <a:ext cx="1920240" cy="548640"/>
          </a:xfrm>
          <a:prstGeom prst="rect">
            <a:avLst/>
          </a:prstGeom>
          <a:noFill/>
          <a:ln/>
        </p:spPr>
        <p:txBody>
          <a:bodyPr wrap="square" rtlCol="0" anchor="ctr"/>
          <a:lstStyle/>
          <a:p>
            <a:pPr marL="0" indent="0" algn="ctr">
              <a:buNone/>
            </a:pPr>
            <a:r>
              <a:rPr lang="en-US" sz="1100" dirty="0">
                <a:solidFill>
                  <a:srgbClr val="8C9BAD"/>
                </a:solidFill>
              </a:rPr>
              <a:t>Employees</a:t>
            </a:r>
            <a:endParaRPr lang="en-US" sz="1100" dirty="0"/>
          </a:p>
        </p:txBody>
      </p:sp>
      <p:sp>
        <p:nvSpPr>
          <p:cNvPr id="13" name="Shape 11"/>
          <p:cNvSpPr/>
          <p:nvPr/>
        </p:nvSpPr>
        <p:spPr>
          <a:xfrm>
            <a:off x="6858000" y="1097280"/>
            <a:ext cx="1920240" cy="1371600"/>
          </a:xfrm>
          <a:prstGeom prst="rect">
            <a:avLst/>
          </a:prstGeom>
          <a:solidFill>
            <a:srgbClr val="F4F6F9"/>
          </a:solidFill>
          <a:ln w="12700">
            <a:solidFill>
              <a:srgbClr val="E0E6EF"/>
            </a:solidFill>
            <a:prstDash val="solid"/>
          </a:ln>
        </p:spPr>
      </p:sp>
      <p:sp>
        <p:nvSpPr>
          <p:cNvPr id="14" name="Text 12"/>
          <p:cNvSpPr/>
          <p:nvPr/>
        </p:nvSpPr>
        <p:spPr>
          <a:xfrm>
            <a:off x="6858000" y="1188720"/>
            <a:ext cx="1920240" cy="594360"/>
          </a:xfrm>
          <a:prstGeom prst="rect">
            <a:avLst/>
          </a:prstGeom>
          <a:noFill/>
          <a:ln/>
        </p:spPr>
        <p:txBody>
          <a:bodyPr wrap="square" rtlCol="0" anchor="ctr"/>
          <a:lstStyle/>
          <a:p>
            <a:pPr marL="0" indent="0" algn="ctr">
              <a:buNone/>
            </a:pPr>
            <a:r>
              <a:rPr lang="en-US" sz="2000" b="1" dirty="0">
                <a:solidFill>
                  <a:srgbClr val="0A1628"/>
                </a:solidFill>
              </a:rPr>
              <a:t>$18.5B</a:t>
            </a:r>
            <a:endParaRPr lang="en-US" sz="2000" dirty="0"/>
          </a:p>
        </p:txBody>
      </p:sp>
      <p:sp>
        <p:nvSpPr>
          <p:cNvPr id="15" name="Text 13"/>
          <p:cNvSpPr/>
          <p:nvPr/>
        </p:nvSpPr>
        <p:spPr>
          <a:xfrm>
            <a:off x="6858000" y="1755648"/>
            <a:ext cx="1920240" cy="548640"/>
          </a:xfrm>
          <a:prstGeom prst="rect">
            <a:avLst/>
          </a:prstGeom>
          <a:noFill/>
          <a:ln/>
        </p:spPr>
        <p:txBody>
          <a:bodyPr wrap="square" rtlCol="0" anchor="ctr"/>
          <a:lstStyle/>
          <a:p>
            <a:pPr marL="0" indent="0" algn="ctr">
              <a:buNone/>
            </a:pPr>
            <a:r>
              <a:rPr lang="en-US" sz="1100" dirty="0">
                <a:solidFill>
                  <a:srgbClr val="8C9BAD"/>
                </a:solidFill>
              </a:rPr>
              <a:t>2022 Revenue</a:t>
            </a:r>
            <a:endParaRPr lang="en-US" sz="1100" dirty="0"/>
          </a:p>
        </p:txBody>
      </p:sp>
      <p:sp>
        <p:nvSpPr>
          <p:cNvPr id="16" name="Text 14"/>
          <p:cNvSpPr/>
          <p:nvPr/>
        </p:nvSpPr>
        <p:spPr>
          <a:xfrm>
            <a:off x="365760" y="2743200"/>
            <a:ext cx="8229600" cy="365760"/>
          </a:xfrm>
          <a:prstGeom prst="rect">
            <a:avLst/>
          </a:prstGeom>
          <a:noFill/>
          <a:ln/>
        </p:spPr>
        <p:txBody>
          <a:bodyPr wrap="square" rtlCol="0" anchor="ctr"/>
          <a:lstStyle/>
          <a:p>
            <a:pPr marL="0" indent="0">
              <a:buNone/>
            </a:pPr>
            <a:r>
              <a:rPr lang="en-US" sz="1600" b="1" dirty="0">
                <a:solidFill>
                  <a:srgbClr val="0A1628"/>
                </a:solidFill>
              </a:rPr>
              <a:t>About Moderna</a:t>
            </a:r>
            <a:endParaRPr lang="en-US" sz="1600" dirty="0"/>
          </a:p>
        </p:txBody>
      </p:sp>
      <p:sp>
        <p:nvSpPr>
          <p:cNvPr id="17" name="Shape 15"/>
          <p:cNvSpPr/>
          <p:nvPr/>
        </p:nvSpPr>
        <p:spPr>
          <a:xfrm>
            <a:off x="365760" y="3127248"/>
            <a:ext cx="54864" cy="1463040"/>
          </a:xfrm>
          <a:prstGeom prst="rect">
            <a:avLst/>
          </a:prstGeom>
          <a:solidFill>
            <a:srgbClr val="00C9A7"/>
          </a:solidFill>
          <a:ln/>
        </p:spPr>
      </p:sp>
      <p:sp>
        <p:nvSpPr>
          <p:cNvPr id="18" name="Text 16"/>
          <p:cNvSpPr/>
          <p:nvPr/>
        </p:nvSpPr>
        <p:spPr>
          <a:xfrm>
            <a:off x="548640" y="3127248"/>
            <a:ext cx="8229600" cy="1645920"/>
          </a:xfrm>
          <a:prstGeom prst="rect">
            <a:avLst/>
          </a:prstGeom>
          <a:noFill/>
          <a:ln/>
        </p:spPr>
        <p:txBody>
          <a:bodyPr wrap="square" rtlCol="0" anchor="ctr"/>
          <a:lstStyle/>
          <a:p>
            <a:pPr marL="0" indent="0">
              <a:lnSpc>
                <a:spcPct val="130000"/>
              </a:lnSpc>
              <a:buNone/>
            </a:pPr>
            <a:r>
              <a:rPr lang="en-US" sz="1300" dirty="0">
                <a:solidFill>
                  <a:srgbClr val="1A2B40"/>
                </a:solidFill>
              </a:rPr>
              <a:t>Moderna, Inc. is an American pharmaceutical and biotechnology company focused on the development of messenger RNA (mRNA) therapeutics and vaccines. Founded in 2010, Moderna has become one of the world's leading biotech companies, globally recognized for its groundbreaking COVID-19 vaccine developed using mRNA platform technology.</a:t>
            </a:r>
            <a:endParaRPr lang="en-US" sz="1300" dirty="0"/>
          </a:p>
          <a:p>
            <a:pPr marL="0" indent="0">
              <a:lnSpc>
                <a:spcPct val="130000"/>
              </a:lnSpc>
              <a:buNone/>
            </a:pPr>
            <a:endParaRPr lang="en-US" sz="1300" dirty="0"/>
          </a:p>
          <a:p>
            <a:pPr marL="0" indent="0">
              <a:lnSpc>
                <a:spcPct val="130000"/>
              </a:lnSpc>
              <a:buNone/>
            </a:pPr>
            <a:r>
              <a:rPr lang="en-US" sz="1300" dirty="0">
                <a:solidFill>
                  <a:srgbClr val="1A2B40"/>
                </a:solidFill>
              </a:rPr>
              <a:t>The company's name is derived from 'modified RNA' and reflects its core scientific mission.</a:t>
            </a:r>
            <a:endParaRPr lang="en-US" sz="13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274320"/>
            <a:ext cx="8229600" cy="640080"/>
          </a:xfrm>
          <a:prstGeom prst="rect">
            <a:avLst/>
          </a:prstGeom>
          <a:noFill/>
          <a:ln/>
        </p:spPr>
        <p:txBody>
          <a:bodyPr wrap="square" rtlCol="0" anchor="ctr"/>
          <a:lstStyle/>
          <a:p>
            <a:pPr marL="0" indent="0">
              <a:buNone/>
            </a:pPr>
            <a:r>
              <a:rPr lang="en-US" sz="2800" b="1" dirty="0">
                <a:solidFill>
                  <a:srgbClr val="FFFFFF"/>
                </a:solidFill>
              </a:rPr>
              <a:t>What is mRNA Technology?</a:t>
            </a:r>
            <a:endParaRPr lang="en-US" sz="2800" dirty="0"/>
          </a:p>
        </p:txBody>
      </p:sp>
      <p:sp>
        <p:nvSpPr>
          <p:cNvPr id="3" name="Shape 1"/>
          <p:cNvSpPr/>
          <p:nvPr/>
        </p:nvSpPr>
        <p:spPr>
          <a:xfrm>
            <a:off x="365760" y="914400"/>
            <a:ext cx="8229600" cy="36576"/>
          </a:xfrm>
          <a:prstGeom prst="rect">
            <a:avLst/>
          </a:prstGeom>
          <a:solidFill>
            <a:srgbClr val="00C9A7"/>
          </a:solidFill>
          <a:ln/>
        </p:spPr>
      </p:sp>
      <p:sp>
        <p:nvSpPr>
          <p:cNvPr id="4" name="Shape 2"/>
          <p:cNvSpPr/>
          <p:nvPr/>
        </p:nvSpPr>
        <p:spPr>
          <a:xfrm>
            <a:off x="274320" y="1188720"/>
            <a:ext cx="1965960" cy="3200400"/>
          </a:xfrm>
          <a:prstGeom prst="rect">
            <a:avLst/>
          </a:prstGeom>
          <a:solidFill>
            <a:srgbClr val="102040"/>
          </a:solidFill>
          <a:ln w="12700">
            <a:solidFill>
              <a:srgbClr val="00C9A7"/>
            </a:solidFill>
            <a:prstDash val="solid"/>
          </a:ln>
        </p:spPr>
      </p:sp>
      <p:sp>
        <p:nvSpPr>
          <p:cNvPr id="5" name="Shape 3"/>
          <p:cNvSpPr/>
          <p:nvPr/>
        </p:nvSpPr>
        <p:spPr>
          <a:xfrm>
            <a:off x="914400" y="1325880"/>
            <a:ext cx="685800" cy="685800"/>
          </a:xfrm>
          <a:prstGeom prst="ellipse">
            <a:avLst/>
          </a:prstGeom>
          <a:solidFill>
            <a:srgbClr val="00C9A7"/>
          </a:solidFill>
          <a:ln/>
        </p:spPr>
      </p:sp>
      <p:sp>
        <p:nvSpPr>
          <p:cNvPr id="6" name="Text 4"/>
          <p:cNvSpPr/>
          <p:nvPr/>
        </p:nvSpPr>
        <p:spPr>
          <a:xfrm>
            <a:off x="914400" y="1325880"/>
            <a:ext cx="685800" cy="685800"/>
          </a:xfrm>
          <a:prstGeom prst="rect">
            <a:avLst/>
          </a:prstGeom>
          <a:noFill/>
          <a:ln/>
        </p:spPr>
        <p:txBody>
          <a:bodyPr wrap="square" rtlCol="0" anchor="ctr"/>
          <a:lstStyle/>
          <a:p>
            <a:pPr marL="0" indent="0" algn="ctr">
              <a:buNone/>
            </a:pPr>
            <a:r>
              <a:rPr lang="en-US" sz="1600" b="1" dirty="0">
                <a:solidFill>
                  <a:srgbClr val="0A1628"/>
                </a:solidFill>
              </a:rPr>
              <a:t>01</a:t>
            </a:r>
            <a:endParaRPr lang="en-US" sz="1600" dirty="0"/>
          </a:p>
        </p:txBody>
      </p:sp>
      <p:sp>
        <p:nvSpPr>
          <p:cNvPr id="7" name="Text 5"/>
          <p:cNvSpPr/>
          <p:nvPr/>
        </p:nvSpPr>
        <p:spPr>
          <a:xfrm>
            <a:off x="274320" y="2148840"/>
            <a:ext cx="1965960" cy="457200"/>
          </a:xfrm>
          <a:prstGeom prst="rect">
            <a:avLst/>
          </a:prstGeom>
          <a:noFill/>
          <a:ln/>
        </p:spPr>
        <p:txBody>
          <a:bodyPr wrap="square" rtlCol="0" anchor="ctr"/>
          <a:lstStyle/>
          <a:p>
            <a:pPr marL="0" indent="0" algn="ctr">
              <a:buNone/>
            </a:pPr>
            <a:r>
              <a:rPr lang="en-US" sz="1300" b="1" dirty="0">
                <a:solidFill>
                  <a:srgbClr val="00C9A7"/>
                </a:solidFill>
              </a:rPr>
              <a:t>mRNA Design</a:t>
            </a:r>
            <a:endParaRPr lang="en-US" sz="1300" dirty="0"/>
          </a:p>
        </p:txBody>
      </p:sp>
      <p:sp>
        <p:nvSpPr>
          <p:cNvPr id="8" name="Text 6"/>
          <p:cNvSpPr/>
          <p:nvPr/>
        </p:nvSpPr>
        <p:spPr>
          <a:xfrm>
            <a:off x="365760" y="2606040"/>
            <a:ext cx="1783080" cy="1645920"/>
          </a:xfrm>
          <a:prstGeom prst="rect">
            <a:avLst/>
          </a:prstGeom>
          <a:noFill/>
          <a:ln/>
        </p:spPr>
        <p:txBody>
          <a:bodyPr wrap="square" rtlCol="0" anchor="ctr"/>
          <a:lstStyle/>
          <a:p>
            <a:pPr marL="0" indent="0" algn="ctr">
              <a:lnSpc>
                <a:spcPct val="130000"/>
              </a:lnSpc>
              <a:buNone/>
            </a:pPr>
            <a:r>
              <a:rPr lang="en-US" sz="1100" dirty="0">
                <a:solidFill>
                  <a:srgbClr val="E0F9F4"/>
                </a:solidFill>
              </a:rPr>
              <a:t>Synthetic mRNA is designed to carry genetic instructions for producing a specific protein</a:t>
            </a:r>
            <a:endParaRPr lang="en-US" sz="1100" dirty="0"/>
          </a:p>
        </p:txBody>
      </p:sp>
      <p:sp>
        <p:nvSpPr>
          <p:cNvPr id="9" name="Shape 7"/>
          <p:cNvSpPr/>
          <p:nvPr/>
        </p:nvSpPr>
        <p:spPr>
          <a:xfrm>
            <a:off x="2240280" y="2697480"/>
            <a:ext cx="246888" cy="36576"/>
          </a:xfrm>
          <a:prstGeom prst="rect">
            <a:avLst/>
          </a:prstGeom>
          <a:solidFill>
            <a:srgbClr val="00C9A7"/>
          </a:solidFill>
          <a:ln/>
        </p:spPr>
      </p:sp>
      <p:sp>
        <p:nvSpPr>
          <p:cNvPr id="10" name="Shape 8"/>
          <p:cNvSpPr/>
          <p:nvPr/>
        </p:nvSpPr>
        <p:spPr>
          <a:xfrm>
            <a:off x="2487168" y="1188720"/>
            <a:ext cx="1965960" cy="3200400"/>
          </a:xfrm>
          <a:prstGeom prst="rect">
            <a:avLst/>
          </a:prstGeom>
          <a:solidFill>
            <a:srgbClr val="102040"/>
          </a:solidFill>
          <a:ln w="12700">
            <a:solidFill>
              <a:srgbClr val="00C9A7"/>
            </a:solidFill>
            <a:prstDash val="solid"/>
          </a:ln>
        </p:spPr>
      </p:sp>
      <p:sp>
        <p:nvSpPr>
          <p:cNvPr id="11" name="Shape 9"/>
          <p:cNvSpPr/>
          <p:nvPr/>
        </p:nvSpPr>
        <p:spPr>
          <a:xfrm>
            <a:off x="3127248" y="1325880"/>
            <a:ext cx="685800" cy="685800"/>
          </a:xfrm>
          <a:prstGeom prst="ellipse">
            <a:avLst/>
          </a:prstGeom>
          <a:solidFill>
            <a:srgbClr val="00C9A7"/>
          </a:solidFill>
          <a:ln/>
        </p:spPr>
      </p:sp>
      <p:sp>
        <p:nvSpPr>
          <p:cNvPr id="12" name="Text 10"/>
          <p:cNvSpPr/>
          <p:nvPr/>
        </p:nvSpPr>
        <p:spPr>
          <a:xfrm>
            <a:off x="3127248" y="1325880"/>
            <a:ext cx="685800" cy="685800"/>
          </a:xfrm>
          <a:prstGeom prst="rect">
            <a:avLst/>
          </a:prstGeom>
          <a:noFill/>
          <a:ln/>
        </p:spPr>
        <p:txBody>
          <a:bodyPr wrap="square" rtlCol="0" anchor="ctr"/>
          <a:lstStyle/>
          <a:p>
            <a:pPr marL="0" indent="0" algn="ctr">
              <a:buNone/>
            </a:pPr>
            <a:r>
              <a:rPr lang="en-US" sz="1600" b="1" dirty="0">
                <a:solidFill>
                  <a:srgbClr val="0A1628"/>
                </a:solidFill>
              </a:rPr>
              <a:t>02</a:t>
            </a:r>
            <a:endParaRPr lang="en-US" sz="1600" dirty="0"/>
          </a:p>
        </p:txBody>
      </p:sp>
      <p:sp>
        <p:nvSpPr>
          <p:cNvPr id="13" name="Text 11"/>
          <p:cNvSpPr/>
          <p:nvPr/>
        </p:nvSpPr>
        <p:spPr>
          <a:xfrm>
            <a:off x="2487168" y="2148840"/>
            <a:ext cx="1965960" cy="457200"/>
          </a:xfrm>
          <a:prstGeom prst="rect">
            <a:avLst/>
          </a:prstGeom>
          <a:noFill/>
          <a:ln/>
        </p:spPr>
        <p:txBody>
          <a:bodyPr wrap="square" rtlCol="0" anchor="ctr"/>
          <a:lstStyle/>
          <a:p>
            <a:pPr marL="0" indent="0" algn="ctr">
              <a:buNone/>
            </a:pPr>
            <a:r>
              <a:rPr lang="en-US" sz="1300" b="1" dirty="0">
                <a:solidFill>
                  <a:srgbClr val="00C9A7"/>
                </a:solidFill>
              </a:rPr>
              <a:t>Delivery</a:t>
            </a:r>
            <a:endParaRPr lang="en-US" sz="1300" dirty="0"/>
          </a:p>
        </p:txBody>
      </p:sp>
      <p:sp>
        <p:nvSpPr>
          <p:cNvPr id="14" name="Text 12"/>
          <p:cNvSpPr/>
          <p:nvPr/>
        </p:nvSpPr>
        <p:spPr>
          <a:xfrm>
            <a:off x="2578608" y="2606040"/>
            <a:ext cx="1783080" cy="1645920"/>
          </a:xfrm>
          <a:prstGeom prst="rect">
            <a:avLst/>
          </a:prstGeom>
          <a:noFill/>
          <a:ln/>
        </p:spPr>
        <p:txBody>
          <a:bodyPr wrap="square" rtlCol="0" anchor="ctr"/>
          <a:lstStyle/>
          <a:p>
            <a:pPr marL="0" indent="0" algn="ctr">
              <a:lnSpc>
                <a:spcPct val="130000"/>
              </a:lnSpc>
              <a:buNone/>
            </a:pPr>
            <a:r>
              <a:rPr lang="en-US" sz="1100" dirty="0">
                <a:solidFill>
                  <a:srgbClr val="E0F9F4"/>
                </a:solidFill>
              </a:rPr>
              <a:t>Lipid nanoparticles (LNPs) encapsulate mRNA and deliver it safely into human cells</a:t>
            </a:r>
            <a:endParaRPr lang="en-US" sz="1100" dirty="0"/>
          </a:p>
        </p:txBody>
      </p:sp>
      <p:sp>
        <p:nvSpPr>
          <p:cNvPr id="15" name="Shape 13"/>
          <p:cNvSpPr/>
          <p:nvPr/>
        </p:nvSpPr>
        <p:spPr>
          <a:xfrm>
            <a:off x="4453128" y="2697480"/>
            <a:ext cx="246888" cy="36576"/>
          </a:xfrm>
          <a:prstGeom prst="rect">
            <a:avLst/>
          </a:prstGeom>
          <a:solidFill>
            <a:srgbClr val="00C9A7"/>
          </a:solidFill>
          <a:ln/>
        </p:spPr>
      </p:sp>
      <p:sp>
        <p:nvSpPr>
          <p:cNvPr id="16" name="Shape 14"/>
          <p:cNvSpPr/>
          <p:nvPr/>
        </p:nvSpPr>
        <p:spPr>
          <a:xfrm>
            <a:off x="4700016" y="1188720"/>
            <a:ext cx="1965960" cy="3200400"/>
          </a:xfrm>
          <a:prstGeom prst="rect">
            <a:avLst/>
          </a:prstGeom>
          <a:solidFill>
            <a:srgbClr val="102040"/>
          </a:solidFill>
          <a:ln w="12700">
            <a:solidFill>
              <a:srgbClr val="00C9A7"/>
            </a:solidFill>
            <a:prstDash val="solid"/>
          </a:ln>
        </p:spPr>
      </p:sp>
      <p:sp>
        <p:nvSpPr>
          <p:cNvPr id="17" name="Shape 15"/>
          <p:cNvSpPr/>
          <p:nvPr/>
        </p:nvSpPr>
        <p:spPr>
          <a:xfrm>
            <a:off x="5340096" y="1325880"/>
            <a:ext cx="685800" cy="685800"/>
          </a:xfrm>
          <a:prstGeom prst="ellipse">
            <a:avLst/>
          </a:prstGeom>
          <a:solidFill>
            <a:srgbClr val="00C9A7"/>
          </a:solidFill>
          <a:ln/>
        </p:spPr>
      </p:sp>
      <p:sp>
        <p:nvSpPr>
          <p:cNvPr id="18" name="Text 16"/>
          <p:cNvSpPr/>
          <p:nvPr/>
        </p:nvSpPr>
        <p:spPr>
          <a:xfrm>
            <a:off x="5340096" y="1325880"/>
            <a:ext cx="685800" cy="685800"/>
          </a:xfrm>
          <a:prstGeom prst="rect">
            <a:avLst/>
          </a:prstGeom>
          <a:noFill/>
          <a:ln/>
        </p:spPr>
        <p:txBody>
          <a:bodyPr wrap="square" rtlCol="0" anchor="ctr"/>
          <a:lstStyle/>
          <a:p>
            <a:pPr marL="0" indent="0" algn="ctr">
              <a:buNone/>
            </a:pPr>
            <a:r>
              <a:rPr lang="en-US" sz="1600" b="1" dirty="0">
                <a:solidFill>
                  <a:srgbClr val="0A1628"/>
                </a:solidFill>
              </a:rPr>
              <a:t>03</a:t>
            </a:r>
            <a:endParaRPr lang="en-US" sz="1600" dirty="0"/>
          </a:p>
        </p:txBody>
      </p:sp>
      <p:sp>
        <p:nvSpPr>
          <p:cNvPr id="19" name="Text 17"/>
          <p:cNvSpPr/>
          <p:nvPr/>
        </p:nvSpPr>
        <p:spPr>
          <a:xfrm>
            <a:off x="4700016" y="2148840"/>
            <a:ext cx="1965960" cy="457200"/>
          </a:xfrm>
          <a:prstGeom prst="rect">
            <a:avLst/>
          </a:prstGeom>
          <a:noFill/>
          <a:ln/>
        </p:spPr>
        <p:txBody>
          <a:bodyPr wrap="square" rtlCol="0" anchor="ctr"/>
          <a:lstStyle/>
          <a:p>
            <a:pPr marL="0" indent="0" algn="ctr">
              <a:buNone/>
            </a:pPr>
            <a:r>
              <a:rPr lang="en-US" sz="1300" b="1" dirty="0">
                <a:solidFill>
                  <a:srgbClr val="00C9A7"/>
                </a:solidFill>
              </a:rPr>
              <a:t>Protein Production</a:t>
            </a:r>
            <a:endParaRPr lang="en-US" sz="1300" dirty="0"/>
          </a:p>
        </p:txBody>
      </p:sp>
      <p:sp>
        <p:nvSpPr>
          <p:cNvPr id="20" name="Text 18"/>
          <p:cNvSpPr/>
          <p:nvPr/>
        </p:nvSpPr>
        <p:spPr>
          <a:xfrm>
            <a:off x="4791456" y="2606040"/>
            <a:ext cx="1783080" cy="1645920"/>
          </a:xfrm>
          <a:prstGeom prst="rect">
            <a:avLst/>
          </a:prstGeom>
          <a:noFill/>
          <a:ln/>
        </p:spPr>
        <p:txBody>
          <a:bodyPr wrap="square" rtlCol="0" anchor="ctr"/>
          <a:lstStyle/>
          <a:p>
            <a:pPr marL="0" indent="0" algn="ctr">
              <a:lnSpc>
                <a:spcPct val="130000"/>
              </a:lnSpc>
              <a:buNone/>
            </a:pPr>
            <a:r>
              <a:rPr lang="en-US" sz="1100" dirty="0">
                <a:solidFill>
                  <a:srgbClr val="E0F9F4"/>
                </a:solidFill>
              </a:rPr>
              <a:t>Cells read mRNA instructions and produce the target protein (e.g. spike protein)</a:t>
            </a:r>
            <a:endParaRPr lang="en-US" sz="1100" dirty="0"/>
          </a:p>
        </p:txBody>
      </p:sp>
      <p:sp>
        <p:nvSpPr>
          <p:cNvPr id="21" name="Shape 19"/>
          <p:cNvSpPr/>
          <p:nvPr/>
        </p:nvSpPr>
        <p:spPr>
          <a:xfrm>
            <a:off x="6665976" y="2697480"/>
            <a:ext cx="246888" cy="36576"/>
          </a:xfrm>
          <a:prstGeom prst="rect">
            <a:avLst/>
          </a:prstGeom>
          <a:solidFill>
            <a:srgbClr val="00C9A7"/>
          </a:solidFill>
          <a:ln/>
        </p:spPr>
      </p:sp>
      <p:sp>
        <p:nvSpPr>
          <p:cNvPr id="22" name="Shape 20"/>
          <p:cNvSpPr/>
          <p:nvPr/>
        </p:nvSpPr>
        <p:spPr>
          <a:xfrm>
            <a:off x="6912864" y="1188720"/>
            <a:ext cx="1965960" cy="3200400"/>
          </a:xfrm>
          <a:prstGeom prst="rect">
            <a:avLst/>
          </a:prstGeom>
          <a:solidFill>
            <a:srgbClr val="102040"/>
          </a:solidFill>
          <a:ln w="12700">
            <a:solidFill>
              <a:srgbClr val="00C9A7"/>
            </a:solidFill>
            <a:prstDash val="solid"/>
          </a:ln>
        </p:spPr>
      </p:sp>
      <p:sp>
        <p:nvSpPr>
          <p:cNvPr id="23" name="Shape 21"/>
          <p:cNvSpPr/>
          <p:nvPr/>
        </p:nvSpPr>
        <p:spPr>
          <a:xfrm>
            <a:off x="7552944" y="1325880"/>
            <a:ext cx="685800" cy="685800"/>
          </a:xfrm>
          <a:prstGeom prst="ellipse">
            <a:avLst/>
          </a:prstGeom>
          <a:solidFill>
            <a:srgbClr val="00C9A7"/>
          </a:solidFill>
          <a:ln/>
        </p:spPr>
      </p:sp>
      <p:sp>
        <p:nvSpPr>
          <p:cNvPr id="24" name="Text 22"/>
          <p:cNvSpPr/>
          <p:nvPr/>
        </p:nvSpPr>
        <p:spPr>
          <a:xfrm>
            <a:off x="7552944" y="1325880"/>
            <a:ext cx="685800" cy="685800"/>
          </a:xfrm>
          <a:prstGeom prst="rect">
            <a:avLst/>
          </a:prstGeom>
          <a:noFill/>
          <a:ln/>
        </p:spPr>
        <p:txBody>
          <a:bodyPr wrap="square" rtlCol="0" anchor="ctr"/>
          <a:lstStyle/>
          <a:p>
            <a:pPr marL="0" indent="0" algn="ctr">
              <a:buNone/>
            </a:pPr>
            <a:r>
              <a:rPr lang="en-US" sz="1600" b="1" dirty="0">
                <a:solidFill>
                  <a:srgbClr val="0A1628"/>
                </a:solidFill>
              </a:rPr>
              <a:t>04</a:t>
            </a:r>
            <a:endParaRPr lang="en-US" sz="1600" dirty="0"/>
          </a:p>
        </p:txBody>
      </p:sp>
      <p:sp>
        <p:nvSpPr>
          <p:cNvPr id="25" name="Text 23"/>
          <p:cNvSpPr/>
          <p:nvPr/>
        </p:nvSpPr>
        <p:spPr>
          <a:xfrm>
            <a:off x="6912864" y="2148840"/>
            <a:ext cx="1965960" cy="457200"/>
          </a:xfrm>
          <a:prstGeom prst="rect">
            <a:avLst/>
          </a:prstGeom>
          <a:noFill/>
          <a:ln/>
        </p:spPr>
        <p:txBody>
          <a:bodyPr wrap="square" rtlCol="0" anchor="ctr"/>
          <a:lstStyle/>
          <a:p>
            <a:pPr marL="0" indent="0" algn="ctr">
              <a:buNone/>
            </a:pPr>
            <a:r>
              <a:rPr lang="en-US" sz="1300" b="1" dirty="0">
                <a:solidFill>
                  <a:srgbClr val="00C9A7"/>
                </a:solidFill>
              </a:rPr>
              <a:t>Immune Response</a:t>
            </a:r>
            <a:endParaRPr lang="en-US" sz="1300" dirty="0"/>
          </a:p>
        </p:txBody>
      </p:sp>
      <p:sp>
        <p:nvSpPr>
          <p:cNvPr id="26" name="Text 24"/>
          <p:cNvSpPr/>
          <p:nvPr/>
        </p:nvSpPr>
        <p:spPr>
          <a:xfrm>
            <a:off x="7004304" y="2606040"/>
            <a:ext cx="1783080" cy="1645920"/>
          </a:xfrm>
          <a:prstGeom prst="rect">
            <a:avLst/>
          </a:prstGeom>
          <a:noFill/>
          <a:ln/>
        </p:spPr>
        <p:txBody>
          <a:bodyPr wrap="square" rtlCol="0" anchor="ctr"/>
          <a:lstStyle/>
          <a:p>
            <a:pPr marL="0" indent="0" algn="ctr">
              <a:lnSpc>
                <a:spcPct val="130000"/>
              </a:lnSpc>
              <a:buNone/>
            </a:pPr>
            <a:r>
              <a:rPr lang="en-US" sz="1100" dirty="0">
                <a:solidFill>
                  <a:srgbClr val="E0F9F4"/>
                </a:solidFill>
              </a:rPr>
              <a:t>Immune system recognizes and builds memory against the protein for future defense</a:t>
            </a:r>
            <a:endParaRPr lang="en-US" sz="1100" dirty="0"/>
          </a:p>
        </p:txBody>
      </p:sp>
      <p:sp>
        <p:nvSpPr>
          <p:cNvPr id="27" name="Text 25"/>
          <p:cNvSpPr/>
          <p:nvPr/>
        </p:nvSpPr>
        <p:spPr>
          <a:xfrm>
            <a:off x="365760" y="4526280"/>
            <a:ext cx="8412480" cy="457200"/>
          </a:xfrm>
          <a:prstGeom prst="rect">
            <a:avLst/>
          </a:prstGeom>
          <a:noFill/>
          <a:ln/>
        </p:spPr>
        <p:txBody>
          <a:bodyPr wrap="square" rtlCol="0" anchor="ctr"/>
          <a:lstStyle/>
          <a:p>
            <a:pPr marL="0" indent="0" algn="ctr">
              <a:buNone/>
            </a:pPr>
            <a:r>
              <a:rPr lang="en-US" sz="1200" i="1" dirty="0">
                <a:solidFill>
                  <a:srgbClr val="FFB347"/>
                </a:solidFill>
              </a:rPr>
              <a:t>Unlike traditional vaccines, mRNA does NOT alter DNA — it is destroyed by the body after use.</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C9A7"/>
          </a:solidFill>
          <a:ln/>
        </p:spPr>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2100" b="1" dirty="0">
                <a:solidFill>
                  <a:srgbClr val="0A1628"/>
                </a:solidFill>
              </a:rPr>
              <a:t>Key Innovation: mRNA-1273 (COVID-19 Vaccine)</a:t>
            </a:r>
            <a:endParaRPr lang="en-US" sz="2100" dirty="0"/>
          </a:p>
        </p:txBody>
      </p:sp>
      <p:sp>
        <p:nvSpPr>
          <p:cNvPr id="4" name="Shape 2"/>
          <p:cNvSpPr/>
          <p:nvPr/>
        </p:nvSpPr>
        <p:spPr>
          <a:xfrm>
            <a:off x="365760" y="1165860"/>
            <a:ext cx="3840480" cy="685800"/>
          </a:xfrm>
          <a:prstGeom prst="rect">
            <a:avLst/>
          </a:prstGeom>
          <a:ln/>
        </p:spPr>
        <p:style>
          <a:lnRef idx="2">
            <a:schemeClr val="accent1"/>
          </a:lnRef>
          <a:fillRef idx="1">
            <a:schemeClr val="lt1"/>
          </a:fillRef>
          <a:effectRef idx="0">
            <a:schemeClr val="accent1"/>
          </a:effectRef>
          <a:fontRef idx="minor">
            <a:schemeClr val="dk1"/>
          </a:fontRef>
        </p:style>
      </p:sp>
      <p:sp>
        <p:nvSpPr>
          <p:cNvPr id="5" name="Text 3"/>
          <p:cNvSpPr/>
          <p:nvPr/>
        </p:nvSpPr>
        <p:spPr>
          <a:xfrm>
            <a:off x="548640" y="1170432"/>
            <a:ext cx="2011680" cy="502920"/>
          </a:xfrm>
          <a:prstGeom prst="rect">
            <a:avLst/>
          </a:prstGeom>
          <a:noFill/>
          <a:ln/>
        </p:spPr>
        <p:txBody>
          <a:bodyPr wrap="square" rtlCol="0" anchor="ctr"/>
          <a:lstStyle/>
          <a:p>
            <a:pPr marL="0" indent="0">
              <a:buNone/>
            </a:pPr>
            <a:r>
              <a:rPr lang="en-US" sz="1200" dirty="0">
                <a:solidFill>
                  <a:schemeClr val="tx2"/>
                </a:solidFill>
              </a:rPr>
              <a:t>Efficacy Rate</a:t>
            </a:r>
          </a:p>
        </p:txBody>
      </p:sp>
      <p:sp>
        <p:nvSpPr>
          <p:cNvPr id="6" name="Text 4"/>
          <p:cNvSpPr/>
          <p:nvPr/>
        </p:nvSpPr>
        <p:spPr>
          <a:xfrm>
            <a:off x="2560320" y="1143000"/>
            <a:ext cx="1645920" cy="548640"/>
          </a:xfrm>
          <a:prstGeom prst="rect">
            <a:avLst/>
          </a:prstGeom>
          <a:noFill/>
          <a:ln/>
        </p:spPr>
        <p:txBody>
          <a:bodyPr wrap="square" rtlCol="0" anchor="ctr"/>
          <a:lstStyle/>
          <a:p>
            <a:pPr marL="0" indent="0" algn="r">
              <a:buNone/>
            </a:pPr>
            <a:r>
              <a:rPr lang="en-US" sz="1600" b="1" dirty="0">
                <a:solidFill>
                  <a:srgbClr val="0A1628"/>
                </a:solidFill>
              </a:rPr>
              <a:t>~94.1%</a:t>
            </a:r>
            <a:endParaRPr lang="en-US" sz="1600" dirty="0"/>
          </a:p>
        </p:txBody>
      </p:sp>
      <p:sp>
        <p:nvSpPr>
          <p:cNvPr id="7" name="Shape 5"/>
          <p:cNvSpPr/>
          <p:nvPr/>
        </p:nvSpPr>
        <p:spPr>
          <a:xfrm>
            <a:off x="365760" y="1920240"/>
            <a:ext cx="3840480" cy="685800"/>
          </a:xfrm>
          <a:prstGeom prst="rect">
            <a:avLst/>
          </a:prstGeom>
          <a:ln/>
        </p:spPr>
        <p:style>
          <a:lnRef idx="2">
            <a:schemeClr val="accent1"/>
          </a:lnRef>
          <a:fillRef idx="1">
            <a:schemeClr val="lt1"/>
          </a:fillRef>
          <a:effectRef idx="0">
            <a:schemeClr val="accent1"/>
          </a:effectRef>
          <a:fontRef idx="minor">
            <a:schemeClr val="dk1"/>
          </a:fontRef>
        </p:style>
      </p:sp>
      <p:sp>
        <p:nvSpPr>
          <p:cNvPr id="8" name="Text 6"/>
          <p:cNvSpPr/>
          <p:nvPr/>
        </p:nvSpPr>
        <p:spPr>
          <a:xfrm>
            <a:off x="548640" y="1993392"/>
            <a:ext cx="2011680" cy="502920"/>
          </a:xfrm>
          <a:prstGeom prst="rect">
            <a:avLst/>
          </a:prstGeom>
          <a:noFill/>
          <a:ln/>
        </p:spPr>
        <p:txBody>
          <a:bodyPr wrap="square" rtlCol="0" anchor="ctr"/>
          <a:lstStyle/>
          <a:p>
            <a:pPr marL="0" indent="0">
              <a:buNone/>
            </a:pPr>
            <a:r>
              <a:rPr lang="en-US" sz="1200" dirty="0">
                <a:solidFill>
                  <a:schemeClr val="tx2"/>
                </a:solidFill>
              </a:rPr>
              <a:t>Development Time</a:t>
            </a:r>
          </a:p>
        </p:txBody>
      </p:sp>
      <p:sp>
        <p:nvSpPr>
          <p:cNvPr id="9" name="Text 7"/>
          <p:cNvSpPr/>
          <p:nvPr/>
        </p:nvSpPr>
        <p:spPr>
          <a:xfrm>
            <a:off x="2560320" y="1965960"/>
            <a:ext cx="1645920" cy="548640"/>
          </a:xfrm>
          <a:prstGeom prst="rect">
            <a:avLst/>
          </a:prstGeom>
          <a:noFill/>
          <a:ln/>
        </p:spPr>
        <p:txBody>
          <a:bodyPr wrap="square" rtlCol="0" anchor="ctr"/>
          <a:lstStyle/>
          <a:p>
            <a:pPr marL="0" indent="0" algn="r">
              <a:buNone/>
            </a:pPr>
            <a:r>
              <a:rPr lang="en-US" sz="1600" b="1" dirty="0">
                <a:solidFill>
                  <a:srgbClr val="0A1628"/>
                </a:solidFill>
              </a:rPr>
              <a:t>11 months</a:t>
            </a:r>
            <a:endParaRPr lang="en-US" sz="1600" dirty="0"/>
          </a:p>
        </p:txBody>
      </p:sp>
      <p:sp>
        <p:nvSpPr>
          <p:cNvPr id="10" name="Shape 8"/>
          <p:cNvSpPr/>
          <p:nvPr/>
        </p:nvSpPr>
        <p:spPr>
          <a:xfrm>
            <a:off x="403328" y="2770632"/>
            <a:ext cx="3840480" cy="685800"/>
          </a:xfrm>
          <a:prstGeom prst="rect">
            <a:avLst/>
          </a:prstGeom>
          <a:ln/>
        </p:spPr>
        <p:style>
          <a:lnRef idx="2">
            <a:schemeClr val="accent1"/>
          </a:lnRef>
          <a:fillRef idx="1">
            <a:schemeClr val="lt1"/>
          </a:fillRef>
          <a:effectRef idx="0">
            <a:schemeClr val="accent1"/>
          </a:effectRef>
          <a:fontRef idx="minor">
            <a:schemeClr val="dk1"/>
          </a:fontRef>
        </p:style>
      </p:sp>
      <p:sp>
        <p:nvSpPr>
          <p:cNvPr id="11" name="Text 9"/>
          <p:cNvSpPr/>
          <p:nvPr/>
        </p:nvSpPr>
        <p:spPr>
          <a:xfrm>
            <a:off x="548640" y="2816352"/>
            <a:ext cx="2011680" cy="502920"/>
          </a:xfrm>
          <a:prstGeom prst="rect">
            <a:avLst/>
          </a:prstGeom>
          <a:noFill/>
          <a:ln/>
        </p:spPr>
        <p:txBody>
          <a:bodyPr wrap="square" rtlCol="0" anchor="ctr"/>
          <a:lstStyle/>
          <a:p>
            <a:pPr marL="0" indent="0">
              <a:buNone/>
            </a:pPr>
            <a:r>
              <a:rPr lang="en-US" sz="1200" dirty="0">
                <a:solidFill>
                  <a:schemeClr val="tx2"/>
                </a:solidFill>
              </a:rPr>
              <a:t>Authorization</a:t>
            </a:r>
          </a:p>
        </p:txBody>
      </p:sp>
      <p:sp>
        <p:nvSpPr>
          <p:cNvPr id="12" name="Text 10"/>
          <p:cNvSpPr/>
          <p:nvPr/>
        </p:nvSpPr>
        <p:spPr>
          <a:xfrm>
            <a:off x="2560320" y="2788920"/>
            <a:ext cx="1645920" cy="548640"/>
          </a:xfrm>
          <a:prstGeom prst="rect">
            <a:avLst/>
          </a:prstGeom>
          <a:noFill/>
          <a:ln/>
        </p:spPr>
        <p:txBody>
          <a:bodyPr wrap="square" rtlCol="0" anchor="ctr"/>
          <a:lstStyle/>
          <a:p>
            <a:pPr marL="0" indent="0" algn="r">
              <a:buNone/>
            </a:pPr>
            <a:r>
              <a:rPr lang="en-US" sz="1600" b="1" dirty="0">
                <a:solidFill>
                  <a:srgbClr val="0A1628"/>
                </a:solidFill>
              </a:rPr>
              <a:t>Dec 2020 (EUA)</a:t>
            </a:r>
            <a:endParaRPr lang="en-US" sz="1600" dirty="0"/>
          </a:p>
        </p:txBody>
      </p:sp>
      <p:sp>
        <p:nvSpPr>
          <p:cNvPr id="13" name="Shape 11"/>
          <p:cNvSpPr/>
          <p:nvPr/>
        </p:nvSpPr>
        <p:spPr>
          <a:xfrm>
            <a:off x="365760" y="3566160"/>
            <a:ext cx="3840480" cy="685800"/>
          </a:xfrm>
          <a:prstGeom prst="rect">
            <a:avLst/>
          </a:prstGeom>
          <a:ln/>
        </p:spPr>
        <p:style>
          <a:lnRef idx="2">
            <a:schemeClr val="accent1"/>
          </a:lnRef>
          <a:fillRef idx="1">
            <a:schemeClr val="lt1"/>
          </a:fillRef>
          <a:effectRef idx="0">
            <a:schemeClr val="accent1"/>
          </a:effectRef>
          <a:fontRef idx="minor">
            <a:schemeClr val="dk1"/>
          </a:fontRef>
        </p:style>
      </p:sp>
      <p:sp>
        <p:nvSpPr>
          <p:cNvPr id="14" name="Text 12"/>
          <p:cNvSpPr/>
          <p:nvPr/>
        </p:nvSpPr>
        <p:spPr>
          <a:xfrm>
            <a:off x="548640" y="3639312"/>
            <a:ext cx="2011680" cy="502920"/>
          </a:xfrm>
          <a:prstGeom prst="rect">
            <a:avLst/>
          </a:prstGeom>
          <a:noFill/>
          <a:ln/>
        </p:spPr>
        <p:txBody>
          <a:bodyPr wrap="square" rtlCol="0" anchor="ctr"/>
          <a:lstStyle/>
          <a:p>
            <a:pPr marL="0" indent="0">
              <a:buNone/>
            </a:pPr>
            <a:r>
              <a:rPr lang="en-US" sz="1200" dirty="0">
                <a:solidFill>
                  <a:schemeClr val="tx2"/>
                </a:solidFill>
              </a:rPr>
              <a:t>Doses Delivered</a:t>
            </a:r>
          </a:p>
        </p:txBody>
      </p:sp>
      <p:sp>
        <p:nvSpPr>
          <p:cNvPr id="15" name="Text 13"/>
          <p:cNvSpPr/>
          <p:nvPr/>
        </p:nvSpPr>
        <p:spPr>
          <a:xfrm>
            <a:off x="2560320" y="3611880"/>
            <a:ext cx="1645920" cy="548640"/>
          </a:xfrm>
          <a:prstGeom prst="rect">
            <a:avLst/>
          </a:prstGeom>
          <a:noFill/>
          <a:ln/>
        </p:spPr>
        <p:txBody>
          <a:bodyPr wrap="square" rtlCol="0" anchor="ctr"/>
          <a:lstStyle/>
          <a:p>
            <a:pPr marL="0" indent="0" algn="r">
              <a:buNone/>
            </a:pPr>
            <a:r>
              <a:rPr lang="en-US" sz="1600" b="1" dirty="0">
                <a:solidFill>
                  <a:srgbClr val="0A1628"/>
                </a:solidFill>
              </a:rPr>
              <a:t>800M+ globally</a:t>
            </a:r>
            <a:endParaRPr lang="en-US" sz="1600" dirty="0"/>
          </a:p>
        </p:txBody>
      </p:sp>
      <p:sp>
        <p:nvSpPr>
          <p:cNvPr id="16" name="Text 14"/>
          <p:cNvSpPr/>
          <p:nvPr/>
        </p:nvSpPr>
        <p:spPr>
          <a:xfrm>
            <a:off x="4663440" y="1097280"/>
            <a:ext cx="4114800" cy="365760"/>
          </a:xfrm>
          <a:prstGeom prst="rect">
            <a:avLst/>
          </a:prstGeom>
          <a:noFill/>
          <a:ln/>
        </p:spPr>
        <p:txBody>
          <a:bodyPr wrap="square" rtlCol="0" anchor="ctr"/>
          <a:lstStyle/>
          <a:p>
            <a:pPr marL="0" indent="0">
              <a:buNone/>
            </a:pPr>
            <a:r>
              <a:rPr lang="en-US" sz="1400" b="1" dirty="0">
                <a:solidFill>
                  <a:srgbClr val="0A1628"/>
                </a:solidFill>
              </a:rPr>
              <a:t>Why It Was Groundbreaking</a:t>
            </a:r>
            <a:endParaRPr lang="en-US" sz="1400" dirty="0"/>
          </a:p>
        </p:txBody>
      </p:sp>
      <p:sp>
        <p:nvSpPr>
          <p:cNvPr id="17" name="Text 15"/>
          <p:cNvSpPr/>
          <p:nvPr/>
        </p:nvSpPr>
        <p:spPr>
          <a:xfrm>
            <a:off x="4663440" y="1554480"/>
            <a:ext cx="4114800" cy="3017520"/>
          </a:xfrm>
          <a:prstGeom prst="rect">
            <a:avLst/>
          </a:prstGeom>
          <a:noFill/>
          <a:ln/>
        </p:spPr>
        <p:txBody>
          <a:bodyPr wrap="square" rtlCol="0" anchor="ctr"/>
          <a:lstStyle/>
          <a:p>
            <a:pPr marL="342900" indent="-342900">
              <a:lnSpc>
                <a:spcPct val="140000"/>
              </a:lnSpc>
              <a:spcAft>
                <a:spcPts val="600"/>
              </a:spcAft>
              <a:buSzPct val="100000"/>
              <a:buChar char="•"/>
            </a:pPr>
            <a:r>
              <a:rPr lang="en-US" sz="1250" dirty="0">
                <a:solidFill>
                  <a:srgbClr val="1A2B40"/>
                </a:solidFill>
              </a:rPr>
              <a:t>First mRNA vaccine ever authorized for human use</a:t>
            </a:r>
            <a:endParaRPr lang="en-US" sz="1250" dirty="0"/>
          </a:p>
          <a:p>
            <a:pPr marL="342900" indent="-342900">
              <a:lnSpc>
                <a:spcPct val="140000"/>
              </a:lnSpc>
              <a:spcAft>
                <a:spcPts val="600"/>
              </a:spcAft>
              <a:buSzPct val="100000"/>
              <a:buChar char="•"/>
            </a:pPr>
            <a:r>
              <a:rPr lang="en-US" sz="1250" dirty="0">
                <a:solidFill>
                  <a:srgbClr val="1A2B40"/>
                </a:solidFill>
              </a:rPr>
              <a:t>Developed in record time — previous vaccines took 10–15 years</a:t>
            </a:r>
            <a:endParaRPr lang="en-US" sz="1250" dirty="0"/>
          </a:p>
          <a:p>
            <a:pPr marL="342900" indent="-342900">
              <a:lnSpc>
                <a:spcPct val="140000"/>
              </a:lnSpc>
              <a:spcAft>
                <a:spcPts val="600"/>
              </a:spcAft>
              <a:buSzPct val="100000"/>
              <a:buChar char="•"/>
            </a:pPr>
            <a:r>
              <a:rPr lang="en-US" sz="1250" dirty="0">
                <a:solidFill>
                  <a:srgbClr val="1A2B40"/>
                </a:solidFill>
              </a:rPr>
              <a:t>Proven the mRNA platform can work in humans at scale</a:t>
            </a:r>
            <a:endParaRPr lang="en-US" sz="1250" dirty="0"/>
          </a:p>
          <a:p>
            <a:pPr marL="342900" indent="-342900">
              <a:lnSpc>
                <a:spcPct val="140000"/>
              </a:lnSpc>
              <a:spcAft>
                <a:spcPts val="600"/>
              </a:spcAft>
              <a:buSzPct val="100000"/>
              <a:buChar char="•"/>
            </a:pPr>
            <a:r>
              <a:rPr lang="en-US" sz="1250" dirty="0">
                <a:solidFill>
                  <a:srgbClr val="1A2B40"/>
                </a:solidFill>
              </a:rPr>
              <a:t>Paved the way for mRNA treatments in cancer, HIV, and flu</a:t>
            </a:r>
            <a:endParaRPr lang="en-US" sz="1250" dirty="0"/>
          </a:p>
          <a:p>
            <a:pPr marL="342900" indent="-342900">
              <a:lnSpc>
                <a:spcPct val="140000"/>
              </a:lnSpc>
              <a:spcAft>
                <a:spcPts val="600"/>
              </a:spcAft>
              <a:buSzPct val="100000"/>
              <a:buChar char="•"/>
            </a:pPr>
            <a:r>
              <a:rPr lang="en-US" sz="1250" dirty="0">
                <a:solidFill>
                  <a:srgbClr val="1A2B40"/>
                </a:solidFill>
              </a:rPr>
              <a:t>Moderna's platform can be rapidly retooled for new variants</a:t>
            </a:r>
            <a:endParaRPr lang="en-US" sz="12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rPr>
              <a:t>Product Pipeline &amp; Research Areas</a:t>
            </a:r>
            <a:endParaRPr lang="en-US" sz="2200" dirty="0"/>
          </a:p>
        </p:txBody>
      </p:sp>
      <p:sp>
        <p:nvSpPr>
          <p:cNvPr id="4" name="Shape 2"/>
          <p:cNvSpPr/>
          <p:nvPr/>
        </p:nvSpPr>
        <p:spPr>
          <a:xfrm>
            <a:off x="228600" y="1051560"/>
            <a:ext cx="2057400" cy="411480"/>
          </a:xfrm>
          <a:prstGeom prst="rect">
            <a:avLst/>
          </a:prstGeom>
          <a:solidFill>
            <a:srgbClr val="00C9A7"/>
          </a:solidFill>
          <a:ln/>
        </p:spPr>
      </p:sp>
      <p:sp>
        <p:nvSpPr>
          <p:cNvPr id="5" name="Text 3"/>
          <p:cNvSpPr/>
          <p:nvPr/>
        </p:nvSpPr>
        <p:spPr>
          <a:xfrm>
            <a:off x="228600" y="1051560"/>
            <a:ext cx="2057400" cy="411480"/>
          </a:xfrm>
          <a:prstGeom prst="rect">
            <a:avLst/>
          </a:prstGeom>
          <a:noFill/>
          <a:ln/>
        </p:spPr>
        <p:txBody>
          <a:bodyPr wrap="square" rtlCol="0" anchor="ctr"/>
          <a:lstStyle/>
          <a:p>
            <a:pPr marL="0" indent="0" algn="ctr">
              <a:buNone/>
            </a:pPr>
            <a:r>
              <a:rPr lang="en-US" sz="1100" b="1" dirty="0">
                <a:solidFill>
                  <a:srgbClr val="FFFFFF"/>
                </a:solidFill>
              </a:rPr>
              <a:t>Infectious Disease</a:t>
            </a:r>
            <a:endParaRPr lang="en-US" sz="1100" dirty="0"/>
          </a:p>
        </p:txBody>
      </p:sp>
      <p:sp>
        <p:nvSpPr>
          <p:cNvPr id="6" name="Shape 4"/>
          <p:cNvSpPr/>
          <p:nvPr/>
        </p:nvSpPr>
        <p:spPr>
          <a:xfrm>
            <a:off x="228600" y="1463040"/>
            <a:ext cx="2057400" cy="3291840"/>
          </a:xfrm>
          <a:prstGeom prst="rect">
            <a:avLst/>
          </a:prstGeom>
          <a:solidFill>
            <a:srgbClr val="F4F6F9"/>
          </a:solidFill>
          <a:ln w="6350">
            <a:solidFill>
              <a:srgbClr val="E0E6EF"/>
            </a:solidFill>
            <a:prstDash val="solid"/>
          </a:ln>
        </p:spPr>
      </p:sp>
      <p:sp>
        <p:nvSpPr>
          <p:cNvPr id="7" name="Text 5"/>
          <p:cNvSpPr/>
          <p:nvPr/>
        </p:nvSpPr>
        <p:spPr>
          <a:xfrm>
            <a:off x="320040" y="1554480"/>
            <a:ext cx="1874520" cy="3108960"/>
          </a:xfrm>
          <a:prstGeom prst="rect">
            <a:avLst/>
          </a:prstGeom>
          <a:noFill/>
          <a:ln/>
        </p:spPr>
        <p:txBody>
          <a:bodyPr wrap="square" rtlCol="0" anchor="ctr"/>
          <a:lstStyle/>
          <a:p>
            <a:pPr marL="342900" indent="-342900">
              <a:lnSpc>
                <a:spcPct val="135000"/>
              </a:lnSpc>
              <a:spcAft>
                <a:spcPts val="800"/>
              </a:spcAft>
              <a:buSzPct val="100000"/>
              <a:buChar char="•"/>
            </a:pPr>
            <a:r>
              <a:rPr lang="en-US" sz="1100" dirty="0">
                <a:solidFill>
                  <a:srgbClr val="1A2B40"/>
                </a:solidFill>
              </a:rPr>
              <a:t>COVID-19 (mRNA-1273) ✓ Approved</a:t>
            </a:r>
            <a:endParaRPr lang="en-US" sz="1100" dirty="0"/>
          </a:p>
          <a:p>
            <a:pPr marL="342900" indent="-342900">
              <a:lnSpc>
                <a:spcPct val="135000"/>
              </a:lnSpc>
              <a:spcAft>
                <a:spcPts val="800"/>
              </a:spcAft>
              <a:buSzPct val="100000"/>
              <a:buChar char="•"/>
            </a:pPr>
            <a:r>
              <a:rPr lang="en-US" sz="1100" dirty="0">
                <a:solidFill>
                  <a:srgbClr val="1A2B40"/>
                </a:solidFill>
              </a:rPr>
              <a:t>Flu + COVID Combo Vaccine</a:t>
            </a:r>
            <a:endParaRPr lang="en-US" sz="1100" dirty="0"/>
          </a:p>
          <a:p>
            <a:pPr marL="342900" indent="-342900">
              <a:lnSpc>
                <a:spcPct val="135000"/>
              </a:lnSpc>
              <a:spcAft>
                <a:spcPts val="800"/>
              </a:spcAft>
              <a:buSzPct val="100000"/>
              <a:buChar char="•"/>
            </a:pPr>
            <a:r>
              <a:rPr lang="en-US" sz="1100" dirty="0">
                <a:solidFill>
                  <a:srgbClr val="1A2B40"/>
                </a:solidFill>
              </a:rPr>
              <a:t>Respiratory Syncytial Virus (RSV)</a:t>
            </a:r>
            <a:endParaRPr lang="en-US" sz="1100" dirty="0"/>
          </a:p>
          <a:p>
            <a:pPr marL="342900" indent="-342900">
              <a:lnSpc>
                <a:spcPct val="135000"/>
              </a:lnSpc>
              <a:spcAft>
                <a:spcPts val="800"/>
              </a:spcAft>
              <a:buSzPct val="100000"/>
              <a:buChar char="•"/>
            </a:pPr>
            <a:r>
              <a:rPr lang="en-US" sz="1100" dirty="0">
                <a:solidFill>
                  <a:srgbClr val="1A2B40"/>
                </a:solidFill>
              </a:rPr>
              <a:t>HIV Vaccine (Phase 1)</a:t>
            </a:r>
            <a:endParaRPr lang="en-US" sz="1100" dirty="0"/>
          </a:p>
        </p:txBody>
      </p:sp>
      <p:sp>
        <p:nvSpPr>
          <p:cNvPr id="8" name="Shape 6"/>
          <p:cNvSpPr/>
          <p:nvPr/>
        </p:nvSpPr>
        <p:spPr>
          <a:xfrm>
            <a:off x="2441448" y="1051560"/>
            <a:ext cx="2057400" cy="411480"/>
          </a:xfrm>
          <a:prstGeom prst="rect">
            <a:avLst/>
          </a:prstGeom>
          <a:solidFill>
            <a:srgbClr val="5B5FEF"/>
          </a:solidFill>
          <a:ln/>
        </p:spPr>
      </p:sp>
      <p:sp>
        <p:nvSpPr>
          <p:cNvPr id="9" name="Text 7"/>
          <p:cNvSpPr/>
          <p:nvPr/>
        </p:nvSpPr>
        <p:spPr>
          <a:xfrm>
            <a:off x="2441448" y="1051560"/>
            <a:ext cx="2057400" cy="411480"/>
          </a:xfrm>
          <a:prstGeom prst="rect">
            <a:avLst/>
          </a:prstGeom>
          <a:noFill/>
          <a:ln/>
        </p:spPr>
        <p:txBody>
          <a:bodyPr wrap="square" rtlCol="0" anchor="ctr"/>
          <a:lstStyle/>
          <a:p>
            <a:pPr marL="0" indent="0" algn="ctr">
              <a:buNone/>
            </a:pPr>
            <a:r>
              <a:rPr lang="en-US" sz="1100" b="1" dirty="0">
                <a:solidFill>
                  <a:srgbClr val="FFFFFF"/>
                </a:solidFill>
              </a:rPr>
              <a:t>Oncology</a:t>
            </a:r>
            <a:endParaRPr lang="en-US" sz="1100" dirty="0"/>
          </a:p>
        </p:txBody>
      </p:sp>
      <p:sp>
        <p:nvSpPr>
          <p:cNvPr id="10" name="Shape 8"/>
          <p:cNvSpPr/>
          <p:nvPr/>
        </p:nvSpPr>
        <p:spPr>
          <a:xfrm>
            <a:off x="2441448" y="1463040"/>
            <a:ext cx="2057400" cy="3291840"/>
          </a:xfrm>
          <a:prstGeom prst="rect">
            <a:avLst/>
          </a:prstGeom>
          <a:solidFill>
            <a:srgbClr val="F4F6F9"/>
          </a:solidFill>
          <a:ln w="6350">
            <a:solidFill>
              <a:srgbClr val="E0E6EF"/>
            </a:solidFill>
            <a:prstDash val="solid"/>
          </a:ln>
        </p:spPr>
      </p:sp>
      <p:sp>
        <p:nvSpPr>
          <p:cNvPr id="11" name="Text 9"/>
          <p:cNvSpPr/>
          <p:nvPr/>
        </p:nvSpPr>
        <p:spPr>
          <a:xfrm>
            <a:off x="2532888" y="1554480"/>
            <a:ext cx="1874520" cy="3108960"/>
          </a:xfrm>
          <a:prstGeom prst="rect">
            <a:avLst/>
          </a:prstGeom>
          <a:noFill/>
          <a:ln/>
        </p:spPr>
        <p:txBody>
          <a:bodyPr wrap="square" rtlCol="0" anchor="ctr"/>
          <a:lstStyle/>
          <a:p>
            <a:pPr marL="342900" indent="-342900">
              <a:lnSpc>
                <a:spcPct val="135000"/>
              </a:lnSpc>
              <a:spcAft>
                <a:spcPts val="800"/>
              </a:spcAft>
              <a:buSzPct val="100000"/>
              <a:buChar char="•"/>
            </a:pPr>
            <a:r>
              <a:rPr lang="en-US" sz="1100" dirty="0">
                <a:solidFill>
                  <a:srgbClr val="1A2B40"/>
                </a:solidFill>
              </a:rPr>
              <a:t>Personalized Cancer Vaccines (mRNA-4157)</a:t>
            </a:r>
            <a:endParaRPr lang="en-US" sz="1100" dirty="0"/>
          </a:p>
          <a:p>
            <a:pPr marL="342900" indent="-342900">
              <a:lnSpc>
                <a:spcPct val="135000"/>
              </a:lnSpc>
              <a:spcAft>
                <a:spcPts val="800"/>
              </a:spcAft>
              <a:buSzPct val="100000"/>
              <a:buChar char="•"/>
            </a:pPr>
            <a:r>
              <a:rPr lang="en-US" sz="1100" dirty="0">
                <a:solidFill>
                  <a:srgbClr val="1A2B40"/>
                </a:solidFill>
              </a:rPr>
              <a:t>KRAS-targeting mRNA therapy</a:t>
            </a:r>
            <a:endParaRPr lang="en-US" sz="1100" dirty="0"/>
          </a:p>
          <a:p>
            <a:pPr marL="342900" indent="-342900">
              <a:lnSpc>
                <a:spcPct val="135000"/>
              </a:lnSpc>
              <a:spcAft>
                <a:spcPts val="800"/>
              </a:spcAft>
              <a:buSzPct val="100000"/>
              <a:buChar char="•"/>
            </a:pPr>
            <a:r>
              <a:rPr lang="en-US" sz="1100" dirty="0">
                <a:solidFill>
                  <a:srgbClr val="1A2B40"/>
                </a:solidFill>
              </a:rPr>
              <a:t>Checkpoint inhibitor combos</a:t>
            </a:r>
            <a:endParaRPr lang="en-US" sz="1100" dirty="0"/>
          </a:p>
          <a:p>
            <a:pPr marL="342900" indent="-342900">
              <a:lnSpc>
                <a:spcPct val="135000"/>
              </a:lnSpc>
              <a:spcAft>
                <a:spcPts val="800"/>
              </a:spcAft>
              <a:buSzPct val="100000"/>
              <a:buChar char="•"/>
            </a:pPr>
            <a:r>
              <a:rPr lang="en-US" sz="1100" dirty="0">
                <a:solidFill>
                  <a:srgbClr val="1A2B40"/>
                </a:solidFill>
              </a:rPr>
              <a:t>Solid tumor treatments</a:t>
            </a:r>
            <a:endParaRPr lang="en-US" sz="1100" dirty="0"/>
          </a:p>
        </p:txBody>
      </p:sp>
      <p:sp>
        <p:nvSpPr>
          <p:cNvPr id="12" name="Shape 10"/>
          <p:cNvSpPr/>
          <p:nvPr/>
        </p:nvSpPr>
        <p:spPr>
          <a:xfrm>
            <a:off x="4654296" y="1051560"/>
            <a:ext cx="2057400" cy="411480"/>
          </a:xfrm>
          <a:prstGeom prst="rect">
            <a:avLst/>
          </a:prstGeom>
          <a:solidFill>
            <a:srgbClr val="FF6B6B"/>
          </a:solidFill>
          <a:ln/>
        </p:spPr>
      </p:sp>
      <p:sp>
        <p:nvSpPr>
          <p:cNvPr id="13" name="Text 11"/>
          <p:cNvSpPr/>
          <p:nvPr/>
        </p:nvSpPr>
        <p:spPr>
          <a:xfrm>
            <a:off x="4654296" y="1051560"/>
            <a:ext cx="2057400" cy="411480"/>
          </a:xfrm>
          <a:prstGeom prst="rect">
            <a:avLst/>
          </a:prstGeom>
          <a:noFill/>
          <a:ln/>
        </p:spPr>
        <p:txBody>
          <a:bodyPr wrap="square" rtlCol="0" anchor="ctr"/>
          <a:lstStyle/>
          <a:p>
            <a:pPr marL="0" indent="0" algn="ctr">
              <a:buNone/>
            </a:pPr>
            <a:r>
              <a:rPr lang="en-US" sz="1100" b="1" dirty="0">
                <a:solidFill>
                  <a:srgbClr val="FFFFFF"/>
                </a:solidFill>
              </a:rPr>
              <a:t>Rare Diseases</a:t>
            </a:r>
            <a:endParaRPr lang="en-US" sz="1100" dirty="0"/>
          </a:p>
        </p:txBody>
      </p:sp>
      <p:sp>
        <p:nvSpPr>
          <p:cNvPr id="14" name="Shape 12"/>
          <p:cNvSpPr/>
          <p:nvPr/>
        </p:nvSpPr>
        <p:spPr>
          <a:xfrm>
            <a:off x="4654296" y="1463040"/>
            <a:ext cx="2057400" cy="3291840"/>
          </a:xfrm>
          <a:prstGeom prst="rect">
            <a:avLst/>
          </a:prstGeom>
          <a:solidFill>
            <a:srgbClr val="F4F6F9"/>
          </a:solidFill>
          <a:ln w="6350">
            <a:solidFill>
              <a:srgbClr val="E0E6EF"/>
            </a:solidFill>
            <a:prstDash val="solid"/>
          </a:ln>
        </p:spPr>
      </p:sp>
      <p:sp>
        <p:nvSpPr>
          <p:cNvPr id="15" name="Text 13"/>
          <p:cNvSpPr/>
          <p:nvPr/>
        </p:nvSpPr>
        <p:spPr>
          <a:xfrm>
            <a:off x="4745736" y="1554480"/>
            <a:ext cx="1874520" cy="3108960"/>
          </a:xfrm>
          <a:prstGeom prst="rect">
            <a:avLst/>
          </a:prstGeom>
          <a:noFill/>
          <a:ln/>
        </p:spPr>
        <p:txBody>
          <a:bodyPr wrap="square" rtlCol="0" anchor="ctr"/>
          <a:lstStyle/>
          <a:p>
            <a:pPr marL="342900" indent="-342900">
              <a:lnSpc>
                <a:spcPct val="135000"/>
              </a:lnSpc>
              <a:spcAft>
                <a:spcPts val="800"/>
              </a:spcAft>
              <a:buSzPct val="100000"/>
              <a:buChar char="•"/>
            </a:pPr>
            <a:r>
              <a:rPr lang="en-US" sz="1100" dirty="0">
                <a:solidFill>
                  <a:srgbClr val="1A2B40"/>
                </a:solidFill>
              </a:rPr>
              <a:t>Propionic Acidemia (PA)</a:t>
            </a:r>
            <a:endParaRPr lang="en-US" sz="1100" dirty="0"/>
          </a:p>
          <a:p>
            <a:pPr marL="342900" indent="-342900">
              <a:lnSpc>
                <a:spcPct val="135000"/>
              </a:lnSpc>
              <a:spcAft>
                <a:spcPts val="800"/>
              </a:spcAft>
              <a:buSzPct val="100000"/>
              <a:buChar char="•"/>
            </a:pPr>
            <a:r>
              <a:rPr lang="en-US" sz="1100" dirty="0">
                <a:solidFill>
                  <a:srgbClr val="1A2B40"/>
                </a:solidFill>
              </a:rPr>
              <a:t>Methylmalonic Acidemia (MMA)</a:t>
            </a:r>
            <a:endParaRPr lang="en-US" sz="1100" dirty="0"/>
          </a:p>
          <a:p>
            <a:pPr marL="342900" indent="-342900">
              <a:lnSpc>
                <a:spcPct val="135000"/>
              </a:lnSpc>
              <a:spcAft>
                <a:spcPts val="800"/>
              </a:spcAft>
              <a:buSzPct val="100000"/>
              <a:buChar char="•"/>
            </a:pPr>
            <a:r>
              <a:rPr lang="en-US" sz="1100" dirty="0">
                <a:solidFill>
                  <a:srgbClr val="1A2B40"/>
                </a:solidFill>
              </a:rPr>
              <a:t>Glycogen Storage Disease</a:t>
            </a:r>
            <a:endParaRPr lang="en-US" sz="1100" dirty="0"/>
          </a:p>
          <a:p>
            <a:pPr marL="342900" indent="-342900">
              <a:lnSpc>
                <a:spcPct val="135000"/>
              </a:lnSpc>
              <a:spcAft>
                <a:spcPts val="800"/>
              </a:spcAft>
              <a:buSzPct val="100000"/>
              <a:buChar char="•"/>
            </a:pPr>
            <a:r>
              <a:rPr lang="en-US" sz="1100" dirty="0">
                <a:solidFill>
                  <a:srgbClr val="1A2B40"/>
                </a:solidFill>
              </a:rPr>
              <a:t>Crigler-Najjar syndrome</a:t>
            </a:r>
            <a:endParaRPr lang="en-US" sz="1100" dirty="0"/>
          </a:p>
        </p:txBody>
      </p:sp>
      <p:sp>
        <p:nvSpPr>
          <p:cNvPr id="16" name="Shape 14"/>
          <p:cNvSpPr/>
          <p:nvPr/>
        </p:nvSpPr>
        <p:spPr>
          <a:xfrm>
            <a:off x="6867144" y="1051560"/>
            <a:ext cx="2057400" cy="411480"/>
          </a:xfrm>
          <a:prstGeom prst="rect">
            <a:avLst/>
          </a:prstGeom>
          <a:solidFill>
            <a:srgbClr val="FFB347"/>
          </a:solidFill>
          <a:ln/>
        </p:spPr>
      </p:sp>
      <p:sp>
        <p:nvSpPr>
          <p:cNvPr id="17" name="Text 15"/>
          <p:cNvSpPr/>
          <p:nvPr/>
        </p:nvSpPr>
        <p:spPr>
          <a:xfrm>
            <a:off x="6867144" y="1051560"/>
            <a:ext cx="2057400" cy="411480"/>
          </a:xfrm>
          <a:prstGeom prst="rect">
            <a:avLst/>
          </a:prstGeom>
          <a:noFill/>
          <a:ln/>
        </p:spPr>
        <p:txBody>
          <a:bodyPr wrap="square" rtlCol="0" anchor="ctr"/>
          <a:lstStyle/>
          <a:p>
            <a:pPr marL="0" indent="0" algn="ctr">
              <a:buNone/>
            </a:pPr>
            <a:r>
              <a:rPr lang="en-US" sz="1100" b="1" dirty="0">
                <a:solidFill>
                  <a:srgbClr val="FFFFFF"/>
                </a:solidFill>
              </a:rPr>
              <a:t>Autoimmune &amp; Cardio</a:t>
            </a:r>
            <a:endParaRPr lang="en-US" sz="1100" dirty="0"/>
          </a:p>
        </p:txBody>
      </p:sp>
      <p:sp>
        <p:nvSpPr>
          <p:cNvPr id="18" name="Shape 16"/>
          <p:cNvSpPr/>
          <p:nvPr/>
        </p:nvSpPr>
        <p:spPr>
          <a:xfrm>
            <a:off x="6867144" y="1463040"/>
            <a:ext cx="2057400" cy="3291840"/>
          </a:xfrm>
          <a:prstGeom prst="rect">
            <a:avLst/>
          </a:prstGeom>
          <a:solidFill>
            <a:srgbClr val="F4F6F9"/>
          </a:solidFill>
          <a:ln w="6350">
            <a:solidFill>
              <a:srgbClr val="E0E6EF"/>
            </a:solidFill>
            <a:prstDash val="solid"/>
          </a:ln>
        </p:spPr>
      </p:sp>
      <p:sp>
        <p:nvSpPr>
          <p:cNvPr id="19" name="Text 17"/>
          <p:cNvSpPr/>
          <p:nvPr/>
        </p:nvSpPr>
        <p:spPr>
          <a:xfrm>
            <a:off x="6958584" y="1554480"/>
            <a:ext cx="1874520" cy="3108960"/>
          </a:xfrm>
          <a:prstGeom prst="rect">
            <a:avLst/>
          </a:prstGeom>
          <a:noFill/>
          <a:ln/>
        </p:spPr>
        <p:txBody>
          <a:bodyPr wrap="square" rtlCol="0" anchor="ctr"/>
          <a:lstStyle/>
          <a:p>
            <a:pPr marL="342900" indent="-342900">
              <a:lnSpc>
                <a:spcPct val="135000"/>
              </a:lnSpc>
              <a:spcAft>
                <a:spcPts val="800"/>
              </a:spcAft>
              <a:buSzPct val="100000"/>
              <a:buChar char="•"/>
            </a:pPr>
            <a:r>
              <a:rPr lang="en-US" sz="1100" dirty="0">
                <a:solidFill>
                  <a:srgbClr val="1A2B40"/>
                </a:solidFill>
              </a:rPr>
              <a:t>Heart failure therapy</a:t>
            </a:r>
            <a:endParaRPr lang="en-US" sz="1100" dirty="0"/>
          </a:p>
          <a:p>
            <a:pPr marL="342900" indent="-342900">
              <a:lnSpc>
                <a:spcPct val="135000"/>
              </a:lnSpc>
              <a:spcAft>
                <a:spcPts val="800"/>
              </a:spcAft>
              <a:buSzPct val="100000"/>
              <a:buChar char="•"/>
            </a:pPr>
            <a:r>
              <a:rPr lang="en-US" sz="1100" dirty="0">
                <a:solidFill>
                  <a:srgbClr val="1A2B40"/>
                </a:solidFill>
              </a:rPr>
              <a:t>Relaxin mRNA (cardiac)</a:t>
            </a:r>
            <a:endParaRPr lang="en-US" sz="1100" dirty="0"/>
          </a:p>
          <a:p>
            <a:pPr marL="342900" indent="-342900">
              <a:lnSpc>
                <a:spcPct val="135000"/>
              </a:lnSpc>
              <a:spcAft>
                <a:spcPts val="800"/>
              </a:spcAft>
              <a:buSzPct val="100000"/>
              <a:buChar char="•"/>
            </a:pPr>
            <a:r>
              <a:rPr lang="en-US" sz="1100" dirty="0">
                <a:solidFill>
                  <a:srgbClr val="1A2B40"/>
                </a:solidFill>
              </a:rPr>
              <a:t>Autoimmune disease research</a:t>
            </a:r>
            <a:endParaRPr lang="en-US" sz="1100" dirty="0"/>
          </a:p>
          <a:p>
            <a:pPr marL="342900" indent="-342900">
              <a:lnSpc>
                <a:spcPct val="135000"/>
              </a:lnSpc>
              <a:spcAft>
                <a:spcPts val="800"/>
              </a:spcAft>
              <a:buSzPct val="100000"/>
              <a:buChar char="•"/>
            </a:pPr>
            <a:r>
              <a:rPr lang="en-US" sz="1100" dirty="0">
                <a:solidFill>
                  <a:srgbClr val="1A2B40"/>
                </a:solidFill>
              </a:rPr>
              <a:t>Regenerative medicine</a:t>
            </a:r>
            <a:endParaRPr lang="en-US" sz="11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548640"/>
          </a:xfrm>
          <a:prstGeom prst="rect">
            <a:avLst/>
          </a:prstGeom>
          <a:noFill/>
          <a:ln/>
        </p:spPr>
        <p:txBody>
          <a:bodyPr wrap="square" rtlCol="0" anchor="ctr"/>
          <a:lstStyle/>
          <a:p>
            <a:pPr marL="0" indent="0">
              <a:buNone/>
            </a:pPr>
            <a:r>
              <a:rPr lang="en-US" sz="2600" b="1" dirty="0">
                <a:solidFill>
                  <a:srgbClr val="FFFFFF"/>
                </a:solidFill>
              </a:rPr>
              <a:t>Market Impact &amp; Financial Performance</a:t>
            </a:r>
            <a:endParaRPr lang="en-US" sz="2600" dirty="0"/>
          </a:p>
        </p:txBody>
      </p:sp>
      <p:sp>
        <p:nvSpPr>
          <p:cNvPr id="3" name="Shape 1"/>
          <p:cNvSpPr/>
          <p:nvPr/>
        </p:nvSpPr>
        <p:spPr>
          <a:xfrm>
            <a:off x="365760" y="822960"/>
            <a:ext cx="8412480" cy="36576"/>
          </a:xfrm>
          <a:prstGeom prst="rect">
            <a:avLst/>
          </a:prstGeom>
          <a:solidFill>
            <a:srgbClr val="00C9A7"/>
          </a:solidFill>
          <a:ln/>
        </p:spPr>
      </p:sp>
      <p:sp>
        <p:nvSpPr>
          <p:cNvPr id="4" name="Shape 2"/>
          <p:cNvSpPr/>
          <p:nvPr/>
        </p:nvSpPr>
        <p:spPr>
          <a:xfrm>
            <a:off x="1097280" y="3657600"/>
            <a:ext cx="1188720" cy="457200"/>
          </a:xfrm>
          <a:prstGeom prst="rect">
            <a:avLst/>
          </a:prstGeom>
          <a:solidFill>
            <a:srgbClr val="00C9A7">
              <a:alpha val="80000"/>
            </a:srgbClr>
          </a:solidFill>
          <a:ln/>
        </p:spPr>
      </p:sp>
      <p:sp>
        <p:nvSpPr>
          <p:cNvPr id="5" name="Text 3"/>
          <p:cNvSpPr/>
          <p:nvPr/>
        </p:nvSpPr>
        <p:spPr>
          <a:xfrm>
            <a:off x="1097280" y="3246120"/>
            <a:ext cx="1188720" cy="365760"/>
          </a:xfrm>
          <a:prstGeom prst="rect">
            <a:avLst/>
          </a:prstGeom>
          <a:noFill/>
          <a:ln/>
        </p:spPr>
        <p:txBody>
          <a:bodyPr wrap="square" rtlCol="0" anchor="ctr"/>
          <a:lstStyle/>
          <a:p>
            <a:pPr marL="0" indent="0" algn="ctr">
              <a:buNone/>
            </a:pPr>
            <a:r>
              <a:rPr lang="en-US" sz="1300" b="1" dirty="0">
                <a:solidFill>
                  <a:srgbClr val="00C9A7"/>
                </a:solidFill>
              </a:rPr>
              <a:t>$0.8B</a:t>
            </a:r>
            <a:endParaRPr lang="en-US" sz="1300" dirty="0"/>
          </a:p>
        </p:txBody>
      </p:sp>
      <p:sp>
        <p:nvSpPr>
          <p:cNvPr id="6" name="Text 4"/>
          <p:cNvSpPr/>
          <p:nvPr/>
        </p:nvSpPr>
        <p:spPr>
          <a:xfrm>
            <a:off x="1097280" y="4187952"/>
            <a:ext cx="1188720" cy="274320"/>
          </a:xfrm>
          <a:prstGeom prst="rect">
            <a:avLst/>
          </a:prstGeom>
          <a:noFill/>
          <a:ln/>
        </p:spPr>
        <p:txBody>
          <a:bodyPr wrap="square" rtlCol="0" anchor="ctr"/>
          <a:lstStyle/>
          <a:p>
            <a:pPr marL="0" indent="0" algn="ctr">
              <a:buNone/>
            </a:pPr>
            <a:r>
              <a:rPr lang="en-US" sz="1200" dirty="0">
                <a:solidFill>
                  <a:srgbClr val="8C9BAD"/>
                </a:solidFill>
              </a:rPr>
              <a:t>2020</a:t>
            </a:r>
            <a:endParaRPr lang="en-US" sz="1200" dirty="0"/>
          </a:p>
        </p:txBody>
      </p:sp>
      <p:sp>
        <p:nvSpPr>
          <p:cNvPr id="7" name="Shape 5"/>
          <p:cNvSpPr/>
          <p:nvPr/>
        </p:nvSpPr>
        <p:spPr>
          <a:xfrm>
            <a:off x="2926080" y="1554480"/>
            <a:ext cx="1188720" cy="2560320"/>
          </a:xfrm>
          <a:prstGeom prst="rect">
            <a:avLst/>
          </a:prstGeom>
          <a:solidFill>
            <a:srgbClr val="00C9A7">
              <a:alpha val="80000"/>
            </a:srgbClr>
          </a:solidFill>
          <a:ln/>
        </p:spPr>
      </p:sp>
      <p:sp>
        <p:nvSpPr>
          <p:cNvPr id="8" name="Text 6"/>
          <p:cNvSpPr/>
          <p:nvPr/>
        </p:nvSpPr>
        <p:spPr>
          <a:xfrm>
            <a:off x="2926080" y="1143000"/>
            <a:ext cx="1188720" cy="365760"/>
          </a:xfrm>
          <a:prstGeom prst="rect">
            <a:avLst/>
          </a:prstGeom>
          <a:noFill/>
          <a:ln/>
        </p:spPr>
        <p:txBody>
          <a:bodyPr wrap="square" rtlCol="0" anchor="ctr"/>
          <a:lstStyle/>
          <a:p>
            <a:pPr marL="0" indent="0" algn="ctr">
              <a:buNone/>
            </a:pPr>
            <a:r>
              <a:rPr lang="en-US" sz="1300" b="1" dirty="0">
                <a:solidFill>
                  <a:srgbClr val="00C9A7"/>
                </a:solidFill>
              </a:rPr>
              <a:t>$18.5B</a:t>
            </a:r>
            <a:endParaRPr lang="en-US" sz="1300" dirty="0"/>
          </a:p>
        </p:txBody>
      </p:sp>
      <p:sp>
        <p:nvSpPr>
          <p:cNvPr id="9" name="Text 7"/>
          <p:cNvSpPr/>
          <p:nvPr/>
        </p:nvSpPr>
        <p:spPr>
          <a:xfrm>
            <a:off x="2926080" y="4187952"/>
            <a:ext cx="1188720" cy="274320"/>
          </a:xfrm>
          <a:prstGeom prst="rect">
            <a:avLst/>
          </a:prstGeom>
          <a:noFill/>
          <a:ln/>
        </p:spPr>
        <p:txBody>
          <a:bodyPr wrap="square" rtlCol="0" anchor="ctr"/>
          <a:lstStyle/>
          <a:p>
            <a:pPr marL="0" indent="0" algn="ctr">
              <a:buNone/>
            </a:pPr>
            <a:r>
              <a:rPr lang="en-US" sz="1200" dirty="0">
                <a:solidFill>
                  <a:srgbClr val="8C9BAD"/>
                </a:solidFill>
              </a:rPr>
              <a:t>2021</a:t>
            </a:r>
            <a:endParaRPr lang="en-US" sz="1200" dirty="0"/>
          </a:p>
        </p:txBody>
      </p:sp>
      <p:sp>
        <p:nvSpPr>
          <p:cNvPr id="10" name="Shape 8"/>
          <p:cNvSpPr/>
          <p:nvPr/>
        </p:nvSpPr>
        <p:spPr>
          <a:xfrm>
            <a:off x="4754880" y="1581912"/>
            <a:ext cx="1188720" cy="2743200"/>
          </a:xfrm>
          <a:prstGeom prst="rect">
            <a:avLst/>
          </a:prstGeom>
          <a:solidFill>
            <a:srgbClr val="00C9A7"/>
          </a:solidFill>
          <a:ln/>
        </p:spPr>
      </p:sp>
      <p:sp>
        <p:nvSpPr>
          <p:cNvPr id="11" name="Text 9"/>
          <p:cNvSpPr/>
          <p:nvPr/>
        </p:nvSpPr>
        <p:spPr>
          <a:xfrm>
            <a:off x="4664149" y="1161288"/>
            <a:ext cx="1311349" cy="320040"/>
          </a:xfrm>
          <a:prstGeom prst="rect">
            <a:avLst/>
          </a:prstGeom>
          <a:noFill/>
          <a:ln/>
        </p:spPr>
        <p:txBody>
          <a:bodyPr wrap="square" rtlCol="0" anchor="ctr"/>
          <a:lstStyle/>
          <a:p>
            <a:pPr marL="0" indent="0" algn="ctr">
              <a:buNone/>
            </a:pPr>
            <a:r>
              <a:rPr lang="en-US" sz="1300" b="1" dirty="0">
                <a:solidFill>
                  <a:srgbClr val="00C9A7"/>
                </a:solidFill>
              </a:rPr>
              <a:t>$19.3B</a:t>
            </a:r>
            <a:endParaRPr lang="en-US" sz="1300" dirty="0"/>
          </a:p>
        </p:txBody>
      </p:sp>
      <p:sp>
        <p:nvSpPr>
          <p:cNvPr id="12" name="Text 10"/>
          <p:cNvSpPr/>
          <p:nvPr/>
        </p:nvSpPr>
        <p:spPr>
          <a:xfrm>
            <a:off x="4754880" y="4187952"/>
            <a:ext cx="1188720" cy="274320"/>
          </a:xfrm>
          <a:prstGeom prst="rect">
            <a:avLst/>
          </a:prstGeom>
          <a:noFill/>
          <a:ln/>
        </p:spPr>
        <p:txBody>
          <a:bodyPr wrap="square" rtlCol="0" anchor="ctr"/>
          <a:lstStyle/>
          <a:p>
            <a:pPr marL="0" indent="0" algn="ctr">
              <a:buNone/>
            </a:pPr>
            <a:r>
              <a:rPr lang="en-US" sz="1200" dirty="0">
                <a:solidFill>
                  <a:srgbClr val="8C9BAD"/>
                </a:solidFill>
              </a:rPr>
              <a:t>2022</a:t>
            </a:r>
            <a:endParaRPr lang="en-US" sz="1200" dirty="0"/>
          </a:p>
        </p:txBody>
      </p:sp>
      <p:sp>
        <p:nvSpPr>
          <p:cNvPr id="13" name="Shape 11"/>
          <p:cNvSpPr/>
          <p:nvPr/>
        </p:nvSpPr>
        <p:spPr>
          <a:xfrm>
            <a:off x="6583680" y="3108960"/>
            <a:ext cx="1188720" cy="1005840"/>
          </a:xfrm>
          <a:prstGeom prst="rect">
            <a:avLst/>
          </a:prstGeom>
          <a:solidFill>
            <a:srgbClr val="00C9A7">
              <a:alpha val="80000"/>
            </a:srgbClr>
          </a:solidFill>
          <a:ln/>
        </p:spPr>
      </p:sp>
      <p:sp>
        <p:nvSpPr>
          <p:cNvPr id="14" name="Text 12"/>
          <p:cNvSpPr/>
          <p:nvPr/>
        </p:nvSpPr>
        <p:spPr>
          <a:xfrm>
            <a:off x="6583680" y="2697480"/>
            <a:ext cx="1188720" cy="365760"/>
          </a:xfrm>
          <a:prstGeom prst="rect">
            <a:avLst/>
          </a:prstGeom>
          <a:noFill/>
          <a:ln/>
        </p:spPr>
        <p:txBody>
          <a:bodyPr wrap="square" rtlCol="0" anchor="ctr"/>
          <a:lstStyle/>
          <a:p>
            <a:pPr marL="0" indent="0" algn="ctr">
              <a:buNone/>
            </a:pPr>
            <a:r>
              <a:rPr lang="en-US" sz="1300" b="1" dirty="0">
                <a:solidFill>
                  <a:srgbClr val="00C9A7"/>
                </a:solidFill>
              </a:rPr>
              <a:t>$6.8B</a:t>
            </a:r>
            <a:endParaRPr lang="en-US" sz="1300" dirty="0"/>
          </a:p>
        </p:txBody>
      </p:sp>
      <p:sp>
        <p:nvSpPr>
          <p:cNvPr id="15" name="Text 13"/>
          <p:cNvSpPr/>
          <p:nvPr/>
        </p:nvSpPr>
        <p:spPr>
          <a:xfrm>
            <a:off x="6583680" y="4187952"/>
            <a:ext cx="1188720" cy="274320"/>
          </a:xfrm>
          <a:prstGeom prst="rect">
            <a:avLst/>
          </a:prstGeom>
          <a:noFill/>
          <a:ln/>
        </p:spPr>
        <p:txBody>
          <a:bodyPr wrap="square" rtlCol="0" anchor="ctr"/>
          <a:lstStyle/>
          <a:p>
            <a:pPr marL="0" indent="0" algn="ctr">
              <a:buNone/>
            </a:pPr>
            <a:r>
              <a:rPr lang="en-US" sz="1200" dirty="0">
                <a:solidFill>
                  <a:srgbClr val="8C9BAD"/>
                </a:solidFill>
              </a:rPr>
              <a:t>2023</a:t>
            </a:r>
            <a:endParaRPr lang="en-US" sz="1200" dirty="0"/>
          </a:p>
        </p:txBody>
      </p:sp>
      <p:sp>
        <p:nvSpPr>
          <p:cNvPr id="16" name="Text 14"/>
          <p:cNvSpPr/>
          <p:nvPr/>
        </p:nvSpPr>
        <p:spPr>
          <a:xfrm rot="16200000">
            <a:off x="182880" y="1005840"/>
            <a:ext cx="1097280" cy="2286000"/>
          </a:xfrm>
          <a:prstGeom prst="rect">
            <a:avLst/>
          </a:prstGeom>
          <a:noFill/>
          <a:ln/>
        </p:spPr>
        <p:txBody>
          <a:bodyPr wrap="square" rtlCol="0" anchor="ctr"/>
          <a:lstStyle/>
          <a:p>
            <a:pPr marL="0" indent="0">
              <a:buNone/>
            </a:pPr>
            <a:r>
              <a:rPr lang="en-US" sz="1000" dirty="0">
                <a:solidFill>
                  <a:srgbClr val="8C9BAD"/>
                </a:solidFill>
              </a:rPr>
              <a:t>Annual Revenue (USD Billions)</a:t>
            </a:r>
            <a:endParaRPr lang="en-US" sz="1000" dirty="0"/>
          </a:p>
        </p:txBody>
      </p:sp>
      <p:sp>
        <p:nvSpPr>
          <p:cNvPr id="17" name="Shape 15"/>
          <p:cNvSpPr/>
          <p:nvPr/>
        </p:nvSpPr>
        <p:spPr>
          <a:xfrm>
            <a:off x="914400" y="1097280"/>
            <a:ext cx="7772400" cy="36576"/>
          </a:xfrm>
          <a:prstGeom prst="rect">
            <a:avLst/>
          </a:prstGeom>
          <a:solidFill>
            <a:srgbClr val="1E3A5F"/>
          </a:solidFill>
          <a:ln/>
        </p:spPr>
      </p:sp>
      <p:sp>
        <p:nvSpPr>
          <p:cNvPr id="18" name="Shape 16"/>
          <p:cNvSpPr/>
          <p:nvPr/>
        </p:nvSpPr>
        <p:spPr>
          <a:xfrm>
            <a:off x="914400" y="2286000"/>
            <a:ext cx="7772400" cy="36576"/>
          </a:xfrm>
          <a:prstGeom prst="rect">
            <a:avLst/>
          </a:prstGeom>
          <a:solidFill>
            <a:srgbClr val="1E3A5F"/>
          </a:solidFill>
          <a:ln/>
        </p:spPr>
      </p:sp>
      <p:sp>
        <p:nvSpPr>
          <p:cNvPr id="19" name="Shape 17"/>
          <p:cNvSpPr/>
          <p:nvPr/>
        </p:nvSpPr>
        <p:spPr>
          <a:xfrm>
            <a:off x="914400" y="3200400"/>
            <a:ext cx="7772400" cy="36576"/>
          </a:xfrm>
          <a:prstGeom prst="rect">
            <a:avLst/>
          </a:prstGeom>
          <a:solidFill>
            <a:srgbClr val="1E3A5F"/>
          </a:solidFill>
          <a:ln/>
        </p:spPr>
      </p:sp>
      <p:sp>
        <p:nvSpPr>
          <p:cNvPr id="20" name="Text 18"/>
          <p:cNvSpPr/>
          <p:nvPr/>
        </p:nvSpPr>
        <p:spPr>
          <a:xfrm>
            <a:off x="365760" y="4663440"/>
            <a:ext cx="8412480" cy="365760"/>
          </a:xfrm>
          <a:prstGeom prst="rect">
            <a:avLst/>
          </a:prstGeom>
          <a:noFill/>
          <a:ln/>
        </p:spPr>
        <p:txBody>
          <a:bodyPr wrap="square" rtlCol="0" anchor="ctr"/>
          <a:lstStyle/>
          <a:p>
            <a:pPr marL="0" indent="0" algn="ctr">
              <a:buNone/>
            </a:pPr>
            <a:r>
              <a:rPr lang="en-US" sz="1100" i="1" dirty="0">
                <a:solidFill>
                  <a:srgbClr val="8C9BAD"/>
                </a:solidFill>
              </a:rPr>
              <a:t>Peak 2022 driven by global COVID-19 vaccine demand; 2023 reflects post-pandemic normalization</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C9A7"/>
          </a:solidFill>
          <a:ln/>
        </p:spPr>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2200" b="1" dirty="0">
                <a:solidFill>
                  <a:srgbClr val="0A1628"/>
                </a:solidFill>
              </a:rPr>
              <a:t>Applications of Moderna's Technology</a:t>
            </a:r>
            <a:endParaRPr lang="en-US" sz="2200" dirty="0"/>
          </a:p>
        </p:txBody>
      </p:sp>
      <p:sp>
        <p:nvSpPr>
          <p:cNvPr id="4" name="Shape 2"/>
          <p:cNvSpPr/>
          <p:nvPr/>
        </p:nvSpPr>
        <p:spPr>
          <a:xfrm>
            <a:off x="274320" y="1097280"/>
            <a:ext cx="2743200" cy="1737360"/>
          </a:xfrm>
          <a:prstGeom prst="rect">
            <a:avLst/>
          </a:prstGeom>
          <a:solidFill>
            <a:srgbClr val="F4F6F9"/>
          </a:solidFill>
          <a:ln w="6350">
            <a:solidFill>
              <a:srgbClr val="E0E6EF"/>
            </a:solidFill>
            <a:prstDash val="solid"/>
          </a:ln>
        </p:spPr>
      </p:sp>
      <p:sp>
        <p:nvSpPr>
          <p:cNvPr id="5" name="Shape 3"/>
          <p:cNvSpPr/>
          <p:nvPr/>
        </p:nvSpPr>
        <p:spPr>
          <a:xfrm>
            <a:off x="274320" y="1097280"/>
            <a:ext cx="73152" cy="1737360"/>
          </a:xfrm>
          <a:prstGeom prst="rect">
            <a:avLst/>
          </a:prstGeom>
          <a:solidFill>
            <a:srgbClr val="00C9A7"/>
          </a:solidFill>
          <a:ln/>
        </p:spPr>
      </p:sp>
      <p:sp>
        <p:nvSpPr>
          <p:cNvPr id="6" name="Text 4"/>
          <p:cNvSpPr/>
          <p:nvPr/>
        </p:nvSpPr>
        <p:spPr>
          <a:xfrm>
            <a:off x="438912" y="1207008"/>
            <a:ext cx="2468880" cy="365760"/>
          </a:xfrm>
          <a:prstGeom prst="rect">
            <a:avLst/>
          </a:prstGeom>
          <a:noFill/>
          <a:ln/>
        </p:spPr>
        <p:txBody>
          <a:bodyPr wrap="square" rtlCol="0" anchor="ctr"/>
          <a:lstStyle/>
          <a:p>
            <a:pPr marL="0" indent="0">
              <a:buNone/>
            </a:pPr>
            <a:r>
              <a:rPr lang="en-US" sz="1300" b="1" dirty="0">
                <a:solidFill>
                  <a:srgbClr val="0A1628"/>
                </a:solidFill>
              </a:rPr>
              <a:t>Vaccine Development</a:t>
            </a:r>
            <a:endParaRPr lang="en-US" sz="1300" dirty="0"/>
          </a:p>
        </p:txBody>
      </p:sp>
      <p:sp>
        <p:nvSpPr>
          <p:cNvPr id="7" name="Text 5"/>
          <p:cNvSpPr/>
          <p:nvPr/>
        </p:nvSpPr>
        <p:spPr>
          <a:xfrm>
            <a:off x="438912" y="160020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Rapid development of vaccines against emerging pathogens. Platform can be redesigned within days when a new virus variant is identified.</a:t>
            </a:r>
            <a:endParaRPr lang="en-US" sz="1100" dirty="0"/>
          </a:p>
        </p:txBody>
      </p:sp>
      <p:sp>
        <p:nvSpPr>
          <p:cNvPr id="8" name="Shape 6"/>
          <p:cNvSpPr/>
          <p:nvPr/>
        </p:nvSpPr>
        <p:spPr>
          <a:xfrm>
            <a:off x="3200400" y="1097280"/>
            <a:ext cx="2743200" cy="1737360"/>
          </a:xfrm>
          <a:prstGeom prst="rect">
            <a:avLst/>
          </a:prstGeom>
          <a:solidFill>
            <a:srgbClr val="F4F6F9"/>
          </a:solidFill>
          <a:ln w="6350">
            <a:solidFill>
              <a:srgbClr val="E0E6EF"/>
            </a:solidFill>
            <a:prstDash val="solid"/>
          </a:ln>
        </p:spPr>
      </p:sp>
      <p:sp>
        <p:nvSpPr>
          <p:cNvPr id="9" name="Shape 7"/>
          <p:cNvSpPr/>
          <p:nvPr/>
        </p:nvSpPr>
        <p:spPr>
          <a:xfrm>
            <a:off x="3200400" y="1097280"/>
            <a:ext cx="73152" cy="1737360"/>
          </a:xfrm>
          <a:prstGeom prst="rect">
            <a:avLst/>
          </a:prstGeom>
          <a:solidFill>
            <a:srgbClr val="5B5FEF"/>
          </a:solidFill>
          <a:ln/>
        </p:spPr>
      </p:sp>
      <p:sp>
        <p:nvSpPr>
          <p:cNvPr id="10" name="Text 8"/>
          <p:cNvSpPr/>
          <p:nvPr/>
        </p:nvSpPr>
        <p:spPr>
          <a:xfrm>
            <a:off x="3364992" y="1207008"/>
            <a:ext cx="2468880" cy="365760"/>
          </a:xfrm>
          <a:prstGeom prst="rect">
            <a:avLst/>
          </a:prstGeom>
          <a:noFill/>
          <a:ln/>
        </p:spPr>
        <p:txBody>
          <a:bodyPr wrap="square" rtlCol="0" anchor="ctr"/>
          <a:lstStyle/>
          <a:p>
            <a:pPr marL="0" indent="0">
              <a:buNone/>
            </a:pPr>
            <a:r>
              <a:rPr lang="en-US" sz="1300" b="1" dirty="0">
                <a:solidFill>
                  <a:srgbClr val="0A1628"/>
                </a:solidFill>
              </a:rPr>
              <a:t>Cancer Treatment</a:t>
            </a:r>
            <a:endParaRPr lang="en-US" sz="1300" dirty="0"/>
          </a:p>
        </p:txBody>
      </p:sp>
      <p:sp>
        <p:nvSpPr>
          <p:cNvPr id="11" name="Text 9"/>
          <p:cNvSpPr/>
          <p:nvPr/>
        </p:nvSpPr>
        <p:spPr>
          <a:xfrm>
            <a:off x="3364992" y="160020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Personalized cancer vaccines (e.g. mRNA-4157 + pembrolizumab) train the immune system to attack tumor-specific mutations unique to each patient.</a:t>
            </a:r>
            <a:endParaRPr lang="en-US" sz="1100" dirty="0"/>
          </a:p>
        </p:txBody>
      </p:sp>
      <p:sp>
        <p:nvSpPr>
          <p:cNvPr id="12" name="Shape 10"/>
          <p:cNvSpPr/>
          <p:nvPr/>
        </p:nvSpPr>
        <p:spPr>
          <a:xfrm>
            <a:off x="6126480" y="1097280"/>
            <a:ext cx="2743200" cy="1737360"/>
          </a:xfrm>
          <a:prstGeom prst="rect">
            <a:avLst/>
          </a:prstGeom>
          <a:solidFill>
            <a:srgbClr val="F4F6F9"/>
          </a:solidFill>
          <a:ln w="6350">
            <a:solidFill>
              <a:srgbClr val="E0E6EF"/>
            </a:solidFill>
            <a:prstDash val="solid"/>
          </a:ln>
        </p:spPr>
      </p:sp>
      <p:sp>
        <p:nvSpPr>
          <p:cNvPr id="13" name="Shape 11"/>
          <p:cNvSpPr/>
          <p:nvPr/>
        </p:nvSpPr>
        <p:spPr>
          <a:xfrm>
            <a:off x="6126480" y="1097280"/>
            <a:ext cx="73152" cy="1737360"/>
          </a:xfrm>
          <a:prstGeom prst="rect">
            <a:avLst/>
          </a:prstGeom>
          <a:solidFill>
            <a:srgbClr val="FF6B6B"/>
          </a:solidFill>
          <a:ln/>
        </p:spPr>
      </p:sp>
      <p:sp>
        <p:nvSpPr>
          <p:cNvPr id="14" name="Text 12"/>
          <p:cNvSpPr/>
          <p:nvPr/>
        </p:nvSpPr>
        <p:spPr>
          <a:xfrm>
            <a:off x="6291072" y="1207008"/>
            <a:ext cx="2468880" cy="365760"/>
          </a:xfrm>
          <a:prstGeom prst="rect">
            <a:avLst/>
          </a:prstGeom>
          <a:noFill/>
          <a:ln/>
        </p:spPr>
        <p:txBody>
          <a:bodyPr wrap="square" rtlCol="0" anchor="ctr"/>
          <a:lstStyle/>
          <a:p>
            <a:pPr marL="0" indent="0">
              <a:buNone/>
            </a:pPr>
            <a:r>
              <a:rPr lang="en-US" sz="1300" b="1" dirty="0">
                <a:solidFill>
                  <a:srgbClr val="0A1628"/>
                </a:solidFill>
              </a:rPr>
              <a:t>Protein Replacement</a:t>
            </a:r>
            <a:endParaRPr lang="en-US" sz="1300" dirty="0"/>
          </a:p>
        </p:txBody>
      </p:sp>
      <p:sp>
        <p:nvSpPr>
          <p:cNvPr id="15" name="Text 13"/>
          <p:cNvSpPr/>
          <p:nvPr/>
        </p:nvSpPr>
        <p:spPr>
          <a:xfrm>
            <a:off x="6291072" y="160020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mRNA can instruct cells to produce missing or defective proteins, offering treatments for rare metabolic genetic disorders.</a:t>
            </a:r>
            <a:endParaRPr lang="en-US" sz="1100" dirty="0"/>
          </a:p>
        </p:txBody>
      </p:sp>
      <p:sp>
        <p:nvSpPr>
          <p:cNvPr id="16" name="Shape 14"/>
          <p:cNvSpPr/>
          <p:nvPr/>
        </p:nvSpPr>
        <p:spPr>
          <a:xfrm>
            <a:off x="274320" y="3017520"/>
            <a:ext cx="2743200" cy="1737360"/>
          </a:xfrm>
          <a:prstGeom prst="rect">
            <a:avLst/>
          </a:prstGeom>
          <a:solidFill>
            <a:srgbClr val="F4F6F9"/>
          </a:solidFill>
          <a:ln w="6350">
            <a:solidFill>
              <a:srgbClr val="E0E6EF"/>
            </a:solidFill>
            <a:prstDash val="solid"/>
          </a:ln>
        </p:spPr>
      </p:sp>
      <p:sp>
        <p:nvSpPr>
          <p:cNvPr id="17" name="Shape 15"/>
          <p:cNvSpPr/>
          <p:nvPr/>
        </p:nvSpPr>
        <p:spPr>
          <a:xfrm>
            <a:off x="274320" y="3017520"/>
            <a:ext cx="73152" cy="1737360"/>
          </a:xfrm>
          <a:prstGeom prst="rect">
            <a:avLst/>
          </a:prstGeom>
          <a:solidFill>
            <a:srgbClr val="FFB347"/>
          </a:solidFill>
          <a:ln/>
        </p:spPr>
      </p:sp>
      <p:sp>
        <p:nvSpPr>
          <p:cNvPr id="18" name="Text 16"/>
          <p:cNvSpPr/>
          <p:nvPr/>
        </p:nvSpPr>
        <p:spPr>
          <a:xfrm>
            <a:off x="438912" y="3127248"/>
            <a:ext cx="2468880" cy="365760"/>
          </a:xfrm>
          <a:prstGeom prst="rect">
            <a:avLst/>
          </a:prstGeom>
          <a:noFill/>
          <a:ln/>
        </p:spPr>
        <p:txBody>
          <a:bodyPr wrap="square" rtlCol="0" anchor="ctr"/>
          <a:lstStyle/>
          <a:p>
            <a:pPr marL="0" indent="0">
              <a:buNone/>
            </a:pPr>
            <a:r>
              <a:rPr lang="en-US" sz="1300" b="1" dirty="0">
                <a:solidFill>
                  <a:srgbClr val="0A1628"/>
                </a:solidFill>
              </a:rPr>
              <a:t>Antibody Therapy</a:t>
            </a:r>
            <a:endParaRPr lang="en-US" sz="1300" dirty="0"/>
          </a:p>
        </p:txBody>
      </p:sp>
      <p:sp>
        <p:nvSpPr>
          <p:cNvPr id="19" name="Text 17"/>
          <p:cNvSpPr/>
          <p:nvPr/>
        </p:nvSpPr>
        <p:spPr>
          <a:xfrm>
            <a:off x="438912" y="352044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Encoding antibodies via mRNA instead of traditional manufacturing — faster, cheaper, and more scalable for infectious diseases.</a:t>
            </a:r>
            <a:endParaRPr lang="en-US" sz="1100" dirty="0"/>
          </a:p>
        </p:txBody>
      </p:sp>
      <p:sp>
        <p:nvSpPr>
          <p:cNvPr id="20" name="Shape 18"/>
          <p:cNvSpPr/>
          <p:nvPr/>
        </p:nvSpPr>
        <p:spPr>
          <a:xfrm>
            <a:off x="3200400" y="3017520"/>
            <a:ext cx="2743200" cy="1737360"/>
          </a:xfrm>
          <a:prstGeom prst="rect">
            <a:avLst/>
          </a:prstGeom>
          <a:solidFill>
            <a:srgbClr val="F4F6F9"/>
          </a:solidFill>
          <a:ln w="6350">
            <a:solidFill>
              <a:srgbClr val="E0E6EF"/>
            </a:solidFill>
            <a:prstDash val="solid"/>
          </a:ln>
        </p:spPr>
      </p:sp>
      <p:sp>
        <p:nvSpPr>
          <p:cNvPr id="21" name="Shape 19"/>
          <p:cNvSpPr/>
          <p:nvPr/>
        </p:nvSpPr>
        <p:spPr>
          <a:xfrm>
            <a:off x="3200400" y="3017520"/>
            <a:ext cx="73152" cy="1737360"/>
          </a:xfrm>
          <a:prstGeom prst="rect">
            <a:avLst/>
          </a:prstGeom>
          <a:solidFill>
            <a:srgbClr val="009E84"/>
          </a:solidFill>
          <a:ln/>
        </p:spPr>
      </p:sp>
      <p:sp>
        <p:nvSpPr>
          <p:cNvPr id="22" name="Text 20"/>
          <p:cNvSpPr/>
          <p:nvPr/>
        </p:nvSpPr>
        <p:spPr>
          <a:xfrm>
            <a:off x="3364992" y="3127248"/>
            <a:ext cx="2468880" cy="365760"/>
          </a:xfrm>
          <a:prstGeom prst="rect">
            <a:avLst/>
          </a:prstGeom>
          <a:noFill/>
          <a:ln/>
        </p:spPr>
        <p:txBody>
          <a:bodyPr wrap="square" rtlCol="0" anchor="ctr"/>
          <a:lstStyle/>
          <a:p>
            <a:pPr marL="0" indent="0">
              <a:buNone/>
            </a:pPr>
            <a:r>
              <a:rPr lang="en-US" sz="1300" b="1" dirty="0">
                <a:solidFill>
                  <a:srgbClr val="0A1628"/>
                </a:solidFill>
              </a:rPr>
              <a:t>Intratumoral Therapy</a:t>
            </a:r>
            <a:endParaRPr lang="en-US" sz="1300" dirty="0"/>
          </a:p>
        </p:txBody>
      </p:sp>
      <p:sp>
        <p:nvSpPr>
          <p:cNvPr id="23" name="Text 21"/>
          <p:cNvSpPr/>
          <p:nvPr/>
        </p:nvSpPr>
        <p:spPr>
          <a:xfrm>
            <a:off x="3364992" y="352044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Injecting mRNA directly into tumors to reprogram the local immune microenvironment and enhance anti-tumor responses.</a:t>
            </a:r>
            <a:endParaRPr lang="en-US" sz="1100" dirty="0"/>
          </a:p>
        </p:txBody>
      </p:sp>
      <p:sp>
        <p:nvSpPr>
          <p:cNvPr id="24" name="Shape 22"/>
          <p:cNvSpPr/>
          <p:nvPr/>
        </p:nvSpPr>
        <p:spPr>
          <a:xfrm>
            <a:off x="6126480" y="3017520"/>
            <a:ext cx="2743200" cy="1737360"/>
          </a:xfrm>
          <a:prstGeom prst="rect">
            <a:avLst/>
          </a:prstGeom>
          <a:solidFill>
            <a:srgbClr val="F4F6F9"/>
          </a:solidFill>
          <a:ln w="6350">
            <a:solidFill>
              <a:srgbClr val="E0E6EF"/>
            </a:solidFill>
            <a:prstDash val="solid"/>
          </a:ln>
        </p:spPr>
      </p:sp>
      <p:sp>
        <p:nvSpPr>
          <p:cNvPr id="25" name="Shape 23"/>
          <p:cNvSpPr/>
          <p:nvPr/>
        </p:nvSpPr>
        <p:spPr>
          <a:xfrm>
            <a:off x="6126480" y="3017520"/>
            <a:ext cx="73152" cy="1737360"/>
          </a:xfrm>
          <a:prstGeom prst="rect">
            <a:avLst/>
          </a:prstGeom>
          <a:solidFill>
            <a:srgbClr val="E53E3E"/>
          </a:solidFill>
          <a:ln/>
        </p:spPr>
      </p:sp>
      <p:sp>
        <p:nvSpPr>
          <p:cNvPr id="26" name="Text 24"/>
          <p:cNvSpPr/>
          <p:nvPr/>
        </p:nvSpPr>
        <p:spPr>
          <a:xfrm>
            <a:off x="6291072" y="3127248"/>
            <a:ext cx="2468880" cy="365760"/>
          </a:xfrm>
          <a:prstGeom prst="rect">
            <a:avLst/>
          </a:prstGeom>
          <a:noFill/>
          <a:ln/>
        </p:spPr>
        <p:txBody>
          <a:bodyPr wrap="square" rtlCol="0" anchor="ctr"/>
          <a:lstStyle/>
          <a:p>
            <a:pPr marL="0" indent="0">
              <a:buNone/>
            </a:pPr>
            <a:r>
              <a:rPr lang="en-US" sz="1300" b="1" dirty="0">
                <a:solidFill>
                  <a:srgbClr val="0A1628"/>
                </a:solidFill>
              </a:rPr>
              <a:t>Gene Editing Aid</a:t>
            </a:r>
            <a:endParaRPr lang="en-US" sz="1300" dirty="0"/>
          </a:p>
        </p:txBody>
      </p:sp>
      <p:sp>
        <p:nvSpPr>
          <p:cNvPr id="27" name="Text 25"/>
          <p:cNvSpPr/>
          <p:nvPr/>
        </p:nvSpPr>
        <p:spPr>
          <a:xfrm>
            <a:off x="6291072" y="3520440"/>
            <a:ext cx="2468880" cy="1143000"/>
          </a:xfrm>
          <a:prstGeom prst="rect">
            <a:avLst/>
          </a:prstGeom>
          <a:noFill/>
          <a:ln/>
        </p:spPr>
        <p:txBody>
          <a:bodyPr wrap="square" rtlCol="0" anchor="ctr"/>
          <a:lstStyle/>
          <a:p>
            <a:pPr marL="0" indent="0">
              <a:lnSpc>
                <a:spcPct val="130000"/>
              </a:lnSpc>
              <a:buNone/>
            </a:pPr>
            <a:r>
              <a:rPr lang="en-US" sz="1100" dirty="0">
                <a:solidFill>
                  <a:srgbClr val="1A2B40"/>
                </a:solidFill>
              </a:rPr>
              <a:t>Delivering gene-editing tools (like CRISPR components) packaged in mRNA, without permanently inserting foreign DNA into the genome.</a:t>
            </a:r>
            <a:endParaRPr lang="en-US" sz="1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p:spPr>
      </p:sp>
      <p:sp>
        <p:nvSpPr>
          <p:cNvPr id="3" name="Text 1"/>
          <p:cNvSpPr/>
          <p:nvPr/>
        </p:nvSpPr>
        <p:spPr>
          <a:xfrm>
            <a:off x="365760" y="228600"/>
            <a:ext cx="8229600" cy="502920"/>
          </a:xfrm>
          <a:prstGeom prst="rect">
            <a:avLst/>
          </a:prstGeom>
          <a:noFill/>
          <a:ln/>
        </p:spPr>
        <p:txBody>
          <a:bodyPr wrap="square" rtlCol="0" anchor="ctr"/>
          <a:lstStyle/>
          <a:p>
            <a:pPr marL="0" indent="0">
              <a:buNone/>
            </a:pPr>
            <a:r>
              <a:rPr lang="en-US" sz="2200" b="1" dirty="0">
                <a:solidFill>
                  <a:srgbClr val="FFFFFF"/>
                </a:solidFill>
              </a:rPr>
              <a:t>Challenges &amp; Limitations</a:t>
            </a:r>
            <a:endParaRPr lang="en-US" sz="2200" dirty="0"/>
          </a:p>
        </p:txBody>
      </p:sp>
      <p:sp>
        <p:nvSpPr>
          <p:cNvPr id="4" name="Shape 2"/>
          <p:cNvSpPr/>
          <p:nvPr/>
        </p:nvSpPr>
        <p:spPr>
          <a:xfrm>
            <a:off x="274320" y="1051560"/>
            <a:ext cx="4206240" cy="1188720"/>
          </a:xfrm>
          <a:prstGeom prst="rect">
            <a:avLst/>
          </a:prstGeom>
          <a:solidFill>
            <a:srgbClr val="F4F6F9"/>
          </a:solidFill>
          <a:ln w="6350">
            <a:solidFill>
              <a:srgbClr val="E0E6EF"/>
            </a:solidFill>
            <a:prstDash val="solid"/>
          </a:ln>
        </p:spPr>
      </p:sp>
      <p:sp>
        <p:nvSpPr>
          <p:cNvPr id="5" name="Shape 3"/>
          <p:cNvSpPr/>
          <p:nvPr/>
        </p:nvSpPr>
        <p:spPr>
          <a:xfrm>
            <a:off x="274320" y="1051560"/>
            <a:ext cx="4206240" cy="365760"/>
          </a:xfrm>
          <a:prstGeom prst="rect">
            <a:avLst/>
          </a:prstGeom>
          <a:solidFill>
            <a:srgbClr val="FFF3E0"/>
          </a:solidFill>
          <a:ln/>
        </p:spPr>
      </p:sp>
      <p:sp>
        <p:nvSpPr>
          <p:cNvPr id="6" name="Text 4"/>
          <p:cNvSpPr/>
          <p:nvPr/>
        </p:nvSpPr>
        <p:spPr>
          <a:xfrm>
            <a:off x="365760" y="1097280"/>
            <a:ext cx="3931920" cy="320040"/>
          </a:xfrm>
          <a:prstGeom prst="rect">
            <a:avLst/>
          </a:prstGeom>
          <a:noFill/>
          <a:ln/>
        </p:spPr>
        <p:txBody>
          <a:bodyPr wrap="square" rtlCol="0" anchor="ctr"/>
          <a:lstStyle/>
          <a:p>
            <a:pPr marL="0" indent="0">
              <a:buNone/>
            </a:pPr>
            <a:r>
              <a:rPr lang="en-US" sz="1200" b="1" dirty="0">
                <a:solidFill>
                  <a:srgbClr val="9A5D00"/>
                </a:solidFill>
              </a:rPr>
              <a:t>🌡️  Cold Chain Requirements</a:t>
            </a:r>
            <a:endParaRPr lang="en-US" sz="1200" dirty="0"/>
          </a:p>
        </p:txBody>
      </p:sp>
      <p:sp>
        <p:nvSpPr>
          <p:cNvPr id="7" name="Text 5"/>
          <p:cNvSpPr/>
          <p:nvPr/>
        </p:nvSpPr>
        <p:spPr>
          <a:xfrm>
            <a:off x="365760" y="146304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mRNA vaccines require ultra-cold storage (−70°C for Pfizer; −20°C for Moderna), making distribution in low-income countries difficult and expensive.</a:t>
            </a:r>
            <a:endParaRPr lang="en-US" sz="1050" dirty="0"/>
          </a:p>
        </p:txBody>
      </p:sp>
      <p:sp>
        <p:nvSpPr>
          <p:cNvPr id="8" name="Shape 6"/>
          <p:cNvSpPr/>
          <p:nvPr/>
        </p:nvSpPr>
        <p:spPr>
          <a:xfrm>
            <a:off x="4754880" y="1051560"/>
            <a:ext cx="4206240" cy="1188720"/>
          </a:xfrm>
          <a:prstGeom prst="rect">
            <a:avLst/>
          </a:prstGeom>
          <a:solidFill>
            <a:srgbClr val="F4F6F9"/>
          </a:solidFill>
          <a:ln w="6350">
            <a:solidFill>
              <a:srgbClr val="E0E6EF"/>
            </a:solidFill>
            <a:prstDash val="solid"/>
          </a:ln>
        </p:spPr>
      </p:sp>
      <p:sp>
        <p:nvSpPr>
          <p:cNvPr id="9" name="Shape 7"/>
          <p:cNvSpPr/>
          <p:nvPr/>
        </p:nvSpPr>
        <p:spPr>
          <a:xfrm>
            <a:off x="4754880" y="1051560"/>
            <a:ext cx="4206240" cy="365760"/>
          </a:xfrm>
          <a:prstGeom prst="rect">
            <a:avLst/>
          </a:prstGeom>
          <a:solidFill>
            <a:srgbClr val="FFF3E0"/>
          </a:solidFill>
          <a:ln/>
        </p:spPr>
      </p:sp>
      <p:sp>
        <p:nvSpPr>
          <p:cNvPr id="10" name="Text 8"/>
          <p:cNvSpPr/>
          <p:nvPr/>
        </p:nvSpPr>
        <p:spPr>
          <a:xfrm>
            <a:off x="4846320" y="1097280"/>
            <a:ext cx="3931920" cy="320040"/>
          </a:xfrm>
          <a:prstGeom prst="rect">
            <a:avLst/>
          </a:prstGeom>
          <a:noFill/>
          <a:ln/>
        </p:spPr>
        <p:txBody>
          <a:bodyPr wrap="square" rtlCol="0" anchor="ctr"/>
          <a:lstStyle/>
          <a:p>
            <a:pPr marL="0" indent="0">
              <a:buNone/>
            </a:pPr>
            <a:r>
              <a:rPr lang="en-US" sz="1200" b="1" dirty="0">
                <a:solidFill>
                  <a:srgbClr val="9A5D00"/>
                </a:solidFill>
              </a:rPr>
              <a:t>⏱️  Short Shelf Life</a:t>
            </a:r>
            <a:endParaRPr lang="en-US" sz="1200" dirty="0"/>
          </a:p>
        </p:txBody>
      </p:sp>
      <p:sp>
        <p:nvSpPr>
          <p:cNvPr id="11" name="Text 9"/>
          <p:cNvSpPr/>
          <p:nvPr/>
        </p:nvSpPr>
        <p:spPr>
          <a:xfrm>
            <a:off x="4846320" y="146304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mRNA molecules are inherently unstable and degrade quickly. Even with lipid nanoparticle encapsulation, shelf life remains limited compared to traditional vaccines.</a:t>
            </a:r>
            <a:endParaRPr lang="en-US" sz="1050" dirty="0"/>
          </a:p>
        </p:txBody>
      </p:sp>
      <p:sp>
        <p:nvSpPr>
          <p:cNvPr id="12" name="Shape 10"/>
          <p:cNvSpPr/>
          <p:nvPr/>
        </p:nvSpPr>
        <p:spPr>
          <a:xfrm>
            <a:off x="274320" y="2377440"/>
            <a:ext cx="4206240" cy="1188720"/>
          </a:xfrm>
          <a:prstGeom prst="rect">
            <a:avLst/>
          </a:prstGeom>
          <a:solidFill>
            <a:srgbClr val="F4F6F9"/>
          </a:solidFill>
          <a:ln w="6350">
            <a:solidFill>
              <a:srgbClr val="E0E6EF"/>
            </a:solidFill>
            <a:prstDash val="solid"/>
          </a:ln>
        </p:spPr>
      </p:sp>
      <p:sp>
        <p:nvSpPr>
          <p:cNvPr id="13" name="Shape 11"/>
          <p:cNvSpPr/>
          <p:nvPr/>
        </p:nvSpPr>
        <p:spPr>
          <a:xfrm>
            <a:off x="274320" y="2377440"/>
            <a:ext cx="4206240" cy="365760"/>
          </a:xfrm>
          <a:prstGeom prst="rect">
            <a:avLst/>
          </a:prstGeom>
          <a:solidFill>
            <a:srgbClr val="FFF3E0"/>
          </a:solidFill>
          <a:ln/>
        </p:spPr>
      </p:sp>
      <p:sp>
        <p:nvSpPr>
          <p:cNvPr id="14" name="Text 12"/>
          <p:cNvSpPr/>
          <p:nvPr/>
        </p:nvSpPr>
        <p:spPr>
          <a:xfrm>
            <a:off x="365760" y="2423160"/>
            <a:ext cx="3931920" cy="320040"/>
          </a:xfrm>
          <a:prstGeom prst="rect">
            <a:avLst/>
          </a:prstGeom>
          <a:noFill/>
          <a:ln/>
        </p:spPr>
        <p:txBody>
          <a:bodyPr wrap="square" rtlCol="0" anchor="ctr"/>
          <a:lstStyle/>
          <a:p>
            <a:pPr marL="0" indent="0">
              <a:buNone/>
            </a:pPr>
            <a:r>
              <a:rPr lang="en-US" sz="1200" b="1" dirty="0">
                <a:solidFill>
                  <a:srgbClr val="9A5D00"/>
                </a:solidFill>
              </a:rPr>
              <a:t>💊  Delivery Challenges</a:t>
            </a:r>
            <a:endParaRPr lang="en-US" sz="1200" dirty="0"/>
          </a:p>
        </p:txBody>
      </p:sp>
      <p:sp>
        <p:nvSpPr>
          <p:cNvPr id="15" name="Text 13"/>
          <p:cNvSpPr/>
          <p:nvPr/>
        </p:nvSpPr>
        <p:spPr>
          <a:xfrm>
            <a:off x="365760" y="278892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Getting mRNA into the correct cells without triggering unwanted immune activation is technically complex. LNPs can cause inflammatory responses in some patients.</a:t>
            </a:r>
            <a:endParaRPr lang="en-US" sz="1050" dirty="0"/>
          </a:p>
        </p:txBody>
      </p:sp>
      <p:sp>
        <p:nvSpPr>
          <p:cNvPr id="16" name="Shape 14"/>
          <p:cNvSpPr/>
          <p:nvPr/>
        </p:nvSpPr>
        <p:spPr>
          <a:xfrm>
            <a:off x="4754880" y="2377440"/>
            <a:ext cx="4206240" cy="1188720"/>
          </a:xfrm>
          <a:prstGeom prst="rect">
            <a:avLst/>
          </a:prstGeom>
          <a:solidFill>
            <a:srgbClr val="F4F6F9"/>
          </a:solidFill>
          <a:ln w="6350">
            <a:solidFill>
              <a:srgbClr val="E0E6EF"/>
            </a:solidFill>
            <a:prstDash val="solid"/>
          </a:ln>
        </p:spPr>
      </p:sp>
      <p:sp>
        <p:nvSpPr>
          <p:cNvPr id="17" name="Shape 15"/>
          <p:cNvSpPr/>
          <p:nvPr/>
        </p:nvSpPr>
        <p:spPr>
          <a:xfrm>
            <a:off x="4754880" y="2377440"/>
            <a:ext cx="4206240" cy="365760"/>
          </a:xfrm>
          <a:prstGeom prst="rect">
            <a:avLst/>
          </a:prstGeom>
          <a:solidFill>
            <a:srgbClr val="FFF3E0"/>
          </a:solidFill>
          <a:ln/>
        </p:spPr>
      </p:sp>
      <p:sp>
        <p:nvSpPr>
          <p:cNvPr id="18" name="Text 16"/>
          <p:cNvSpPr/>
          <p:nvPr/>
        </p:nvSpPr>
        <p:spPr>
          <a:xfrm>
            <a:off x="4846320" y="2423160"/>
            <a:ext cx="3931920" cy="320040"/>
          </a:xfrm>
          <a:prstGeom prst="rect">
            <a:avLst/>
          </a:prstGeom>
          <a:noFill/>
          <a:ln/>
        </p:spPr>
        <p:txBody>
          <a:bodyPr wrap="square" rtlCol="0" anchor="ctr"/>
          <a:lstStyle/>
          <a:p>
            <a:pPr marL="0" indent="0">
              <a:buNone/>
            </a:pPr>
            <a:r>
              <a:rPr lang="en-US" sz="1200" b="1" dirty="0">
                <a:solidFill>
                  <a:srgbClr val="9A5D00"/>
                </a:solidFill>
              </a:rPr>
              <a:t>💰  High Cost of Production</a:t>
            </a:r>
            <a:endParaRPr lang="en-US" sz="1200" dirty="0"/>
          </a:p>
        </p:txBody>
      </p:sp>
      <p:sp>
        <p:nvSpPr>
          <p:cNvPr id="19" name="Text 17"/>
          <p:cNvSpPr/>
          <p:nvPr/>
        </p:nvSpPr>
        <p:spPr>
          <a:xfrm>
            <a:off x="4846320" y="278892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Manufacturing mRNA at scale is expensive. This creates pricing inequity, limiting access in developing nations and straining public health budgets.</a:t>
            </a:r>
            <a:endParaRPr lang="en-US" sz="1050" dirty="0"/>
          </a:p>
        </p:txBody>
      </p:sp>
      <p:sp>
        <p:nvSpPr>
          <p:cNvPr id="20" name="Shape 18"/>
          <p:cNvSpPr/>
          <p:nvPr/>
        </p:nvSpPr>
        <p:spPr>
          <a:xfrm>
            <a:off x="274320" y="3703320"/>
            <a:ext cx="4206240" cy="1188720"/>
          </a:xfrm>
          <a:prstGeom prst="rect">
            <a:avLst/>
          </a:prstGeom>
          <a:solidFill>
            <a:srgbClr val="F4F6F9"/>
          </a:solidFill>
          <a:ln w="6350">
            <a:solidFill>
              <a:srgbClr val="E0E6EF"/>
            </a:solidFill>
            <a:prstDash val="solid"/>
          </a:ln>
        </p:spPr>
      </p:sp>
      <p:sp>
        <p:nvSpPr>
          <p:cNvPr id="21" name="Shape 19"/>
          <p:cNvSpPr/>
          <p:nvPr/>
        </p:nvSpPr>
        <p:spPr>
          <a:xfrm>
            <a:off x="274320" y="3703320"/>
            <a:ext cx="4206240" cy="365760"/>
          </a:xfrm>
          <a:prstGeom prst="rect">
            <a:avLst/>
          </a:prstGeom>
          <a:solidFill>
            <a:srgbClr val="FFF3E0"/>
          </a:solidFill>
          <a:ln/>
        </p:spPr>
      </p:sp>
      <p:sp>
        <p:nvSpPr>
          <p:cNvPr id="22" name="Text 20"/>
          <p:cNvSpPr/>
          <p:nvPr/>
        </p:nvSpPr>
        <p:spPr>
          <a:xfrm>
            <a:off x="365760" y="3749040"/>
            <a:ext cx="3931920" cy="320040"/>
          </a:xfrm>
          <a:prstGeom prst="rect">
            <a:avLst/>
          </a:prstGeom>
          <a:noFill/>
          <a:ln/>
        </p:spPr>
        <p:txBody>
          <a:bodyPr wrap="square" rtlCol="0" anchor="ctr"/>
          <a:lstStyle/>
          <a:p>
            <a:pPr marL="0" indent="0">
              <a:buNone/>
            </a:pPr>
            <a:r>
              <a:rPr lang="en-US" sz="1200" b="1" dirty="0">
                <a:solidFill>
                  <a:srgbClr val="9A5D00"/>
                </a:solidFill>
              </a:rPr>
              <a:t>🔬  Regulatory Uncertainty</a:t>
            </a:r>
            <a:endParaRPr lang="en-US" sz="1200" dirty="0"/>
          </a:p>
        </p:txBody>
      </p:sp>
      <p:sp>
        <p:nvSpPr>
          <p:cNvPr id="23" name="Text 21"/>
          <p:cNvSpPr/>
          <p:nvPr/>
        </p:nvSpPr>
        <p:spPr>
          <a:xfrm>
            <a:off x="365760" y="411480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Novel mRNA therapies face scrutiny from regulatory agencies due to limited long-term safety data, slowing approvals for non-vaccine applications.</a:t>
            </a:r>
            <a:endParaRPr lang="en-US" sz="1050" dirty="0"/>
          </a:p>
        </p:txBody>
      </p:sp>
      <p:sp>
        <p:nvSpPr>
          <p:cNvPr id="24" name="Shape 22"/>
          <p:cNvSpPr/>
          <p:nvPr/>
        </p:nvSpPr>
        <p:spPr>
          <a:xfrm>
            <a:off x="4754880" y="3703320"/>
            <a:ext cx="4206240" cy="1188720"/>
          </a:xfrm>
          <a:prstGeom prst="rect">
            <a:avLst/>
          </a:prstGeom>
          <a:solidFill>
            <a:srgbClr val="F4F6F9"/>
          </a:solidFill>
          <a:ln w="6350">
            <a:solidFill>
              <a:srgbClr val="E0E6EF"/>
            </a:solidFill>
            <a:prstDash val="solid"/>
          </a:ln>
        </p:spPr>
      </p:sp>
      <p:sp>
        <p:nvSpPr>
          <p:cNvPr id="25" name="Shape 23"/>
          <p:cNvSpPr/>
          <p:nvPr/>
        </p:nvSpPr>
        <p:spPr>
          <a:xfrm>
            <a:off x="4754880" y="3703320"/>
            <a:ext cx="4206240" cy="365760"/>
          </a:xfrm>
          <a:prstGeom prst="rect">
            <a:avLst/>
          </a:prstGeom>
          <a:solidFill>
            <a:srgbClr val="FFF3E0"/>
          </a:solidFill>
          <a:ln/>
        </p:spPr>
      </p:sp>
      <p:sp>
        <p:nvSpPr>
          <p:cNvPr id="26" name="Text 24"/>
          <p:cNvSpPr/>
          <p:nvPr/>
        </p:nvSpPr>
        <p:spPr>
          <a:xfrm>
            <a:off x="4846320" y="3749040"/>
            <a:ext cx="3931920" cy="320040"/>
          </a:xfrm>
          <a:prstGeom prst="rect">
            <a:avLst/>
          </a:prstGeom>
          <a:noFill/>
          <a:ln/>
        </p:spPr>
        <p:txBody>
          <a:bodyPr wrap="square" rtlCol="0" anchor="ctr"/>
          <a:lstStyle/>
          <a:p>
            <a:pPr marL="0" indent="0">
              <a:buNone/>
            </a:pPr>
            <a:r>
              <a:rPr lang="en-US" sz="1200" b="1" dirty="0">
                <a:solidFill>
                  <a:srgbClr val="9A5D00"/>
                </a:solidFill>
              </a:rPr>
              <a:t>📉  Post-COVID Revenue Drop</a:t>
            </a:r>
            <a:endParaRPr lang="en-US" sz="1200" dirty="0"/>
          </a:p>
        </p:txBody>
      </p:sp>
      <p:sp>
        <p:nvSpPr>
          <p:cNvPr id="27" name="Text 25"/>
          <p:cNvSpPr/>
          <p:nvPr/>
        </p:nvSpPr>
        <p:spPr>
          <a:xfrm>
            <a:off x="4846320" y="4114800"/>
            <a:ext cx="4023360" cy="731520"/>
          </a:xfrm>
          <a:prstGeom prst="rect">
            <a:avLst/>
          </a:prstGeom>
          <a:noFill/>
          <a:ln/>
        </p:spPr>
        <p:txBody>
          <a:bodyPr wrap="square" rtlCol="0" anchor="ctr"/>
          <a:lstStyle/>
          <a:p>
            <a:pPr marL="0" indent="0">
              <a:lnSpc>
                <a:spcPct val="125000"/>
              </a:lnSpc>
              <a:buNone/>
            </a:pPr>
            <a:r>
              <a:rPr lang="en-US" sz="1050" dirty="0">
                <a:solidFill>
                  <a:srgbClr val="1A2B40"/>
                </a:solidFill>
              </a:rPr>
              <a:t>After peak COVID-19 vaccine demand, Moderna's revenue fell sharply, revealing over-reliance on a single product. Diversification remains a challenge.</a:t>
            </a:r>
            <a:endParaRPr lang="en-US" sz="10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365760" y="228600"/>
            <a:ext cx="8229600" cy="548640"/>
          </a:xfrm>
          <a:prstGeom prst="rect">
            <a:avLst/>
          </a:prstGeom>
          <a:noFill/>
          <a:ln/>
        </p:spPr>
        <p:txBody>
          <a:bodyPr wrap="square" rtlCol="0" anchor="ctr"/>
          <a:lstStyle/>
          <a:p>
            <a:pPr marL="0" indent="0">
              <a:buNone/>
            </a:pPr>
            <a:r>
              <a:rPr lang="en-US" sz="2600" b="1" dirty="0">
                <a:solidFill>
                  <a:srgbClr val="FFFFFF"/>
                </a:solidFill>
              </a:rPr>
              <a:t>Competitive Landscape</a:t>
            </a:r>
            <a:endParaRPr lang="en-US" sz="2600" dirty="0"/>
          </a:p>
        </p:txBody>
      </p:sp>
      <p:sp>
        <p:nvSpPr>
          <p:cNvPr id="3" name="Shape 1"/>
          <p:cNvSpPr/>
          <p:nvPr/>
        </p:nvSpPr>
        <p:spPr>
          <a:xfrm>
            <a:off x="365760" y="822960"/>
            <a:ext cx="8412480" cy="36576"/>
          </a:xfrm>
          <a:prstGeom prst="rect">
            <a:avLst/>
          </a:prstGeom>
          <a:solidFill>
            <a:srgbClr val="00C9A7"/>
          </a:solidFill>
          <a:ln/>
        </p:spPr>
      </p:sp>
      <p:sp>
        <p:nvSpPr>
          <p:cNvPr id="4" name="Shape 2"/>
          <p:cNvSpPr/>
          <p:nvPr/>
        </p:nvSpPr>
        <p:spPr>
          <a:xfrm>
            <a:off x="274320" y="1005840"/>
            <a:ext cx="1600200" cy="411480"/>
          </a:xfrm>
          <a:prstGeom prst="rect">
            <a:avLst/>
          </a:prstGeom>
          <a:solidFill>
            <a:srgbClr val="00C9A7"/>
          </a:solidFill>
          <a:ln/>
        </p:spPr>
      </p:sp>
      <p:sp>
        <p:nvSpPr>
          <p:cNvPr id="5" name="Text 3"/>
          <p:cNvSpPr/>
          <p:nvPr/>
        </p:nvSpPr>
        <p:spPr>
          <a:xfrm>
            <a:off x="274320" y="1005840"/>
            <a:ext cx="1600200" cy="411480"/>
          </a:xfrm>
          <a:prstGeom prst="rect">
            <a:avLst/>
          </a:prstGeom>
          <a:noFill/>
          <a:ln/>
        </p:spPr>
        <p:txBody>
          <a:bodyPr wrap="square" rtlCol="0" anchor="ctr"/>
          <a:lstStyle/>
          <a:p>
            <a:pPr marL="0" indent="0" algn="ctr">
              <a:buNone/>
            </a:pPr>
            <a:r>
              <a:rPr lang="en-US" sz="1100" b="1" dirty="0">
                <a:solidFill>
                  <a:srgbClr val="0A1628"/>
                </a:solidFill>
              </a:rPr>
              <a:t>Company</a:t>
            </a:r>
            <a:endParaRPr lang="en-US" sz="1100" dirty="0"/>
          </a:p>
        </p:txBody>
      </p:sp>
      <p:sp>
        <p:nvSpPr>
          <p:cNvPr id="6" name="Shape 4"/>
          <p:cNvSpPr/>
          <p:nvPr/>
        </p:nvSpPr>
        <p:spPr>
          <a:xfrm>
            <a:off x="1920240" y="1005840"/>
            <a:ext cx="1783080" cy="411480"/>
          </a:xfrm>
          <a:prstGeom prst="rect">
            <a:avLst/>
          </a:prstGeom>
          <a:solidFill>
            <a:srgbClr val="00C9A7"/>
          </a:solidFill>
          <a:ln/>
        </p:spPr>
      </p:sp>
      <p:sp>
        <p:nvSpPr>
          <p:cNvPr id="7" name="Text 5"/>
          <p:cNvSpPr/>
          <p:nvPr/>
        </p:nvSpPr>
        <p:spPr>
          <a:xfrm>
            <a:off x="1920240" y="1005840"/>
            <a:ext cx="1783080" cy="411480"/>
          </a:xfrm>
          <a:prstGeom prst="rect">
            <a:avLst/>
          </a:prstGeom>
          <a:noFill/>
          <a:ln/>
        </p:spPr>
        <p:txBody>
          <a:bodyPr wrap="square" rtlCol="0" anchor="ctr"/>
          <a:lstStyle/>
          <a:p>
            <a:pPr marL="0" indent="0" algn="ctr">
              <a:buNone/>
            </a:pPr>
            <a:r>
              <a:rPr lang="en-US" sz="1100" b="1" dirty="0">
                <a:solidFill>
                  <a:srgbClr val="0A1628"/>
                </a:solidFill>
              </a:rPr>
              <a:t>Technology</a:t>
            </a:r>
            <a:endParaRPr lang="en-US" sz="1100" dirty="0"/>
          </a:p>
        </p:txBody>
      </p:sp>
      <p:sp>
        <p:nvSpPr>
          <p:cNvPr id="8" name="Shape 6"/>
          <p:cNvSpPr/>
          <p:nvPr/>
        </p:nvSpPr>
        <p:spPr>
          <a:xfrm>
            <a:off x="3749040" y="1005840"/>
            <a:ext cx="1417320" cy="411480"/>
          </a:xfrm>
          <a:prstGeom prst="rect">
            <a:avLst/>
          </a:prstGeom>
          <a:solidFill>
            <a:srgbClr val="00C9A7"/>
          </a:solidFill>
          <a:ln/>
        </p:spPr>
      </p:sp>
      <p:sp>
        <p:nvSpPr>
          <p:cNvPr id="9" name="Text 7"/>
          <p:cNvSpPr/>
          <p:nvPr/>
        </p:nvSpPr>
        <p:spPr>
          <a:xfrm>
            <a:off x="3749040" y="1005840"/>
            <a:ext cx="1417320" cy="411480"/>
          </a:xfrm>
          <a:prstGeom prst="rect">
            <a:avLst/>
          </a:prstGeom>
          <a:noFill/>
          <a:ln/>
        </p:spPr>
        <p:txBody>
          <a:bodyPr wrap="square" rtlCol="0" anchor="ctr"/>
          <a:lstStyle/>
          <a:p>
            <a:pPr marL="0" indent="0" algn="ctr">
              <a:buNone/>
            </a:pPr>
            <a:r>
              <a:rPr lang="en-US" sz="1100" b="1" dirty="0">
                <a:solidFill>
                  <a:srgbClr val="0A1628"/>
                </a:solidFill>
              </a:rPr>
              <a:t>mRNA Capability</a:t>
            </a:r>
            <a:endParaRPr lang="en-US" sz="1100" dirty="0"/>
          </a:p>
        </p:txBody>
      </p:sp>
      <p:sp>
        <p:nvSpPr>
          <p:cNvPr id="10" name="Shape 8"/>
          <p:cNvSpPr/>
          <p:nvPr/>
        </p:nvSpPr>
        <p:spPr>
          <a:xfrm>
            <a:off x="5212080" y="1005840"/>
            <a:ext cx="1783080" cy="411480"/>
          </a:xfrm>
          <a:prstGeom prst="rect">
            <a:avLst/>
          </a:prstGeom>
          <a:solidFill>
            <a:srgbClr val="00C9A7"/>
          </a:solidFill>
          <a:ln/>
        </p:spPr>
      </p:sp>
      <p:sp>
        <p:nvSpPr>
          <p:cNvPr id="11" name="Text 9"/>
          <p:cNvSpPr/>
          <p:nvPr/>
        </p:nvSpPr>
        <p:spPr>
          <a:xfrm>
            <a:off x="5212080" y="1005840"/>
            <a:ext cx="1783080" cy="411480"/>
          </a:xfrm>
          <a:prstGeom prst="rect">
            <a:avLst/>
          </a:prstGeom>
          <a:noFill/>
          <a:ln/>
        </p:spPr>
        <p:txBody>
          <a:bodyPr wrap="square" rtlCol="0" anchor="ctr"/>
          <a:lstStyle/>
          <a:p>
            <a:pPr marL="0" indent="0" algn="ctr">
              <a:buNone/>
            </a:pPr>
            <a:r>
              <a:rPr lang="en-US" sz="1100" b="1" dirty="0">
                <a:solidFill>
                  <a:srgbClr val="0A1628"/>
                </a:solidFill>
              </a:rPr>
              <a:t>Key Product</a:t>
            </a:r>
            <a:endParaRPr lang="en-US" sz="1100" dirty="0"/>
          </a:p>
        </p:txBody>
      </p:sp>
      <p:sp>
        <p:nvSpPr>
          <p:cNvPr id="12" name="Shape 10"/>
          <p:cNvSpPr/>
          <p:nvPr/>
        </p:nvSpPr>
        <p:spPr>
          <a:xfrm>
            <a:off x="7040880" y="1005840"/>
            <a:ext cx="1783080" cy="411480"/>
          </a:xfrm>
          <a:prstGeom prst="rect">
            <a:avLst/>
          </a:prstGeom>
          <a:solidFill>
            <a:srgbClr val="00C9A7"/>
          </a:solidFill>
          <a:ln/>
        </p:spPr>
      </p:sp>
      <p:sp>
        <p:nvSpPr>
          <p:cNvPr id="13" name="Text 11"/>
          <p:cNvSpPr/>
          <p:nvPr/>
        </p:nvSpPr>
        <p:spPr>
          <a:xfrm>
            <a:off x="7040880" y="1005840"/>
            <a:ext cx="1783080" cy="411480"/>
          </a:xfrm>
          <a:prstGeom prst="rect">
            <a:avLst/>
          </a:prstGeom>
          <a:noFill/>
          <a:ln/>
        </p:spPr>
        <p:txBody>
          <a:bodyPr wrap="square" rtlCol="0" anchor="ctr"/>
          <a:lstStyle/>
          <a:p>
            <a:pPr marL="0" indent="0" algn="ctr">
              <a:buNone/>
            </a:pPr>
            <a:r>
              <a:rPr lang="en-US" sz="1100" b="1" dirty="0">
                <a:solidFill>
                  <a:srgbClr val="0A1628"/>
                </a:solidFill>
              </a:rPr>
              <a:t>Market Focus</a:t>
            </a:r>
            <a:endParaRPr lang="en-US" sz="1100" dirty="0"/>
          </a:p>
        </p:txBody>
      </p:sp>
      <p:sp>
        <p:nvSpPr>
          <p:cNvPr id="14" name="Shape 12"/>
          <p:cNvSpPr/>
          <p:nvPr/>
        </p:nvSpPr>
        <p:spPr>
          <a:xfrm>
            <a:off x="274320" y="1463040"/>
            <a:ext cx="1600200" cy="594360"/>
          </a:xfrm>
          <a:prstGeom prst="rect">
            <a:avLst/>
          </a:prstGeom>
          <a:solidFill>
            <a:srgbClr val="0A2040"/>
          </a:solidFill>
          <a:ln w="6350">
            <a:solidFill>
              <a:srgbClr val="1A3A5C"/>
            </a:solidFill>
            <a:prstDash val="solid"/>
          </a:ln>
        </p:spPr>
      </p:sp>
      <p:sp>
        <p:nvSpPr>
          <p:cNvPr id="15" name="Text 13"/>
          <p:cNvSpPr/>
          <p:nvPr/>
        </p:nvSpPr>
        <p:spPr>
          <a:xfrm>
            <a:off x="320040" y="1490472"/>
            <a:ext cx="1554480" cy="502920"/>
          </a:xfrm>
          <a:prstGeom prst="rect">
            <a:avLst/>
          </a:prstGeom>
          <a:noFill/>
          <a:ln/>
        </p:spPr>
        <p:txBody>
          <a:bodyPr wrap="square" rtlCol="0" anchor="ctr"/>
          <a:lstStyle/>
          <a:p>
            <a:pPr marL="0" indent="0" algn="ctr">
              <a:buNone/>
            </a:pPr>
            <a:r>
              <a:rPr lang="en-US" sz="1100" b="1" dirty="0">
                <a:solidFill>
                  <a:srgbClr val="00C9A7"/>
                </a:solidFill>
              </a:rPr>
              <a:t>Moderna</a:t>
            </a:r>
            <a:endParaRPr lang="en-US" sz="1100" dirty="0"/>
          </a:p>
        </p:txBody>
      </p:sp>
      <p:sp>
        <p:nvSpPr>
          <p:cNvPr id="16" name="Shape 14"/>
          <p:cNvSpPr/>
          <p:nvPr/>
        </p:nvSpPr>
        <p:spPr>
          <a:xfrm>
            <a:off x="1920240" y="1463040"/>
            <a:ext cx="1783080" cy="594360"/>
          </a:xfrm>
          <a:prstGeom prst="rect">
            <a:avLst/>
          </a:prstGeom>
          <a:solidFill>
            <a:srgbClr val="0A2040"/>
          </a:solidFill>
          <a:ln w="6350">
            <a:solidFill>
              <a:srgbClr val="1A3A5C"/>
            </a:solidFill>
            <a:prstDash val="solid"/>
          </a:ln>
        </p:spPr>
      </p:sp>
      <p:sp>
        <p:nvSpPr>
          <p:cNvPr id="17" name="Text 15"/>
          <p:cNvSpPr/>
          <p:nvPr/>
        </p:nvSpPr>
        <p:spPr>
          <a:xfrm>
            <a:off x="1965960" y="1490472"/>
            <a:ext cx="1737360" cy="502920"/>
          </a:xfrm>
          <a:prstGeom prst="rect">
            <a:avLst/>
          </a:prstGeom>
          <a:noFill/>
          <a:ln/>
        </p:spPr>
        <p:txBody>
          <a:bodyPr wrap="square" rtlCol="0" anchor="ctr"/>
          <a:lstStyle/>
          <a:p>
            <a:pPr marL="0" indent="0" algn="ctr">
              <a:buNone/>
            </a:pPr>
            <a:r>
              <a:rPr lang="en-US" sz="1100" b="1" dirty="0">
                <a:solidFill>
                  <a:srgbClr val="00C9A7"/>
                </a:solidFill>
              </a:rPr>
              <a:t>mRNA Platform</a:t>
            </a:r>
            <a:endParaRPr lang="en-US" sz="1100" dirty="0"/>
          </a:p>
        </p:txBody>
      </p:sp>
      <p:sp>
        <p:nvSpPr>
          <p:cNvPr id="18" name="Shape 16"/>
          <p:cNvSpPr/>
          <p:nvPr/>
        </p:nvSpPr>
        <p:spPr>
          <a:xfrm>
            <a:off x="3749040" y="1463040"/>
            <a:ext cx="1417320" cy="594360"/>
          </a:xfrm>
          <a:prstGeom prst="rect">
            <a:avLst/>
          </a:prstGeom>
          <a:solidFill>
            <a:srgbClr val="0A2040"/>
          </a:solidFill>
          <a:ln w="6350">
            <a:solidFill>
              <a:srgbClr val="1A3A5C"/>
            </a:solidFill>
            <a:prstDash val="solid"/>
          </a:ln>
        </p:spPr>
      </p:sp>
      <p:sp>
        <p:nvSpPr>
          <p:cNvPr id="19" name="Text 17"/>
          <p:cNvSpPr/>
          <p:nvPr/>
        </p:nvSpPr>
        <p:spPr>
          <a:xfrm>
            <a:off x="3794760" y="1490472"/>
            <a:ext cx="1371600" cy="502920"/>
          </a:xfrm>
          <a:prstGeom prst="rect">
            <a:avLst/>
          </a:prstGeom>
          <a:noFill/>
          <a:ln/>
        </p:spPr>
        <p:txBody>
          <a:bodyPr wrap="square" rtlCol="0" anchor="ctr"/>
          <a:lstStyle/>
          <a:p>
            <a:pPr marL="0" indent="0" algn="ctr">
              <a:buNone/>
            </a:pPr>
            <a:r>
              <a:rPr lang="en-US" sz="1100" b="1" dirty="0">
                <a:solidFill>
                  <a:srgbClr val="00C9A7"/>
                </a:solidFill>
              </a:rPr>
              <a:t>★★★★★</a:t>
            </a:r>
            <a:endParaRPr lang="en-US" sz="1100" dirty="0"/>
          </a:p>
        </p:txBody>
      </p:sp>
      <p:sp>
        <p:nvSpPr>
          <p:cNvPr id="20" name="Shape 18"/>
          <p:cNvSpPr/>
          <p:nvPr/>
        </p:nvSpPr>
        <p:spPr>
          <a:xfrm>
            <a:off x="5212080" y="1463040"/>
            <a:ext cx="1783080" cy="594360"/>
          </a:xfrm>
          <a:prstGeom prst="rect">
            <a:avLst/>
          </a:prstGeom>
          <a:solidFill>
            <a:srgbClr val="0A2040"/>
          </a:solidFill>
          <a:ln w="6350">
            <a:solidFill>
              <a:srgbClr val="1A3A5C"/>
            </a:solidFill>
            <a:prstDash val="solid"/>
          </a:ln>
        </p:spPr>
      </p:sp>
      <p:sp>
        <p:nvSpPr>
          <p:cNvPr id="21" name="Text 19"/>
          <p:cNvSpPr/>
          <p:nvPr/>
        </p:nvSpPr>
        <p:spPr>
          <a:xfrm>
            <a:off x="5257800" y="1490472"/>
            <a:ext cx="1737360" cy="502920"/>
          </a:xfrm>
          <a:prstGeom prst="rect">
            <a:avLst/>
          </a:prstGeom>
          <a:noFill/>
          <a:ln/>
        </p:spPr>
        <p:txBody>
          <a:bodyPr wrap="square" rtlCol="0" anchor="ctr"/>
          <a:lstStyle/>
          <a:p>
            <a:pPr marL="0" indent="0" algn="ctr">
              <a:buNone/>
            </a:pPr>
            <a:r>
              <a:rPr lang="en-US" sz="1100" b="1" dirty="0">
                <a:solidFill>
                  <a:srgbClr val="00C9A7"/>
                </a:solidFill>
              </a:rPr>
              <a:t>mRNA-1273</a:t>
            </a:r>
            <a:endParaRPr lang="en-US" sz="1100" dirty="0"/>
          </a:p>
        </p:txBody>
      </p:sp>
      <p:sp>
        <p:nvSpPr>
          <p:cNvPr id="22" name="Shape 20"/>
          <p:cNvSpPr/>
          <p:nvPr/>
        </p:nvSpPr>
        <p:spPr>
          <a:xfrm>
            <a:off x="7040880" y="1463040"/>
            <a:ext cx="1783080" cy="594360"/>
          </a:xfrm>
          <a:prstGeom prst="rect">
            <a:avLst/>
          </a:prstGeom>
          <a:solidFill>
            <a:srgbClr val="0A2040"/>
          </a:solidFill>
          <a:ln w="6350">
            <a:solidFill>
              <a:srgbClr val="1A3A5C"/>
            </a:solidFill>
            <a:prstDash val="solid"/>
          </a:ln>
        </p:spPr>
      </p:sp>
      <p:sp>
        <p:nvSpPr>
          <p:cNvPr id="23" name="Text 21"/>
          <p:cNvSpPr/>
          <p:nvPr/>
        </p:nvSpPr>
        <p:spPr>
          <a:xfrm>
            <a:off x="7086600" y="1490472"/>
            <a:ext cx="1737360" cy="502920"/>
          </a:xfrm>
          <a:prstGeom prst="rect">
            <a:avLst/>
          </a:prstGeom>
          <a:noFill/>
          <a:ln/>
        </p:spPr>
        <p:txBody>
          <a:bodyPr wrap="square" rtlCol="0" anchor="ctr"/>
          <a:lstStyle/>
          <a:p>
            <a:pPr marL="0" indent="0" algn="ctr">
              <a:buNone/>
            </a:pPr>
            <a:r>
              <a:rPr lang="en-US" sz="1100" b="1" dirty="0">
                <a:solidFill>
                  <a:srgbClr val="00C9A7"/>
                </a:solidFill>
              </a:rPr>
              <a:t>Vaccines + Oncology</a:t>
            </a:r>
            <a:endParaRPr lang="en-US" sz="1100" dirty="0"/>
          </a:p>
        </p:txBody>
      </p:sp>
      <p:sp>
        <p:nvSpPr>
          <p:cNvPr id="24" name="Shape 22"/>
          <p:cNvSpPr/>
          <p:nvPr/>
        </p:nvSpPr>
        <p:spPr>
          <a:xfrm>
            <a:off x="274320" y="2103120"/>
            <a:ext cx="1600200" cy="594360"/>
          </a:xfrm>
          <a:prstGeom prst="rect">
            <a:avLst/>
          </a:prstGeom>
          <a:solidFill>
            <a:srgbClr val="0D1E35"/>
          </a:solidFill>
          <a:ln w="6350">
            <a:solidFill>
              <a:srgbClr val="1A3A5C"/>
            </a:solidFill>
            <a:prstDash val="solid"/>
          </a:ln>
        </p:spPr>
      </p:sp>
      <p:sp>
        <p:nvSpPr>
          <p:cNvPr id="25" name="Text 23"/>
          <p:cNvSpPr/>
          <p:nvPr/>
        </p:nvSpPr>
        <p:spPr>
          <a:xfrm>
            <a:off x="320040" y="2130552"/>
            <a:ext cx="1554480" cy="502920"/>
          </a:xfrm>
          <a:prstGeom prst="rect">
            <a:avLst/>
          </a:prstGeom>
          <a:noFill/>
          <a:ln/>
        </p:spPr>
        <p:txBody>
          <a:bodyPr wrap="square" rtlCol="0" anchor="ctr"/>
          <a:lstStyle/>
          <a:p>
            <a:pPr marL="0" indent="0" algn="ctr">
              <a:buNone/>
            </a:pPr>
            <a:r>
              <a:rPr lang="en-US" sz="1100" dirty="0">
                <a:solidFill>
                  <a:srgbClr val="FFFFFF"/>
                </a:solidFill>
              </a:rPr>
              <a:t>Pfizer/BioNTech</a:t>
            </a:r>
            <a:endParaRPr lang="en-US" sz="1100" dirty="0"/>
          </a:p>
        </p:txBody>
      </p:sp>
      <p:sp>
        <p:nvSpPr>
          <p:cNvPr id="26" name="Shape 24"/>
          <p:cNvSpPr/>
          <p:nvPr/>
        </p:nvSpPr>
        <p:spPr>
          <a:xfrm>
            <a:off x="1920240" y="2103120"/>
            <a:ext cx="1783080" cy="594360"/>
          </a:xfrm>
          <a:prstGeom prst="rect">
            <a:avLst/>
          </a:prstGeom>
          <a:solidFill>
            <a:srgbClr val="0D1E35"/>
          </a:solidFill>
          <a:ln w="6350">
            <a:solidFill>
              <a:srgbClr val="1A3A5C"/>
            </a:solidFill>
            <a:prstDash val="solid"/>
          </a:ln>
        </p:spPr>
      </p:sp>
      <p:sp>
        <p:nvSpPr>
          <p:cNvPr id="27" name="Text 25"/>
          <p:cNvSpPr/>
          <p:nvPr/>
        </p:nvSpPr>
        <p:spPr>
          <a:xfrm>
            <a:off x="1965960" y="2130552"/>
            <a:ext cx="1737360" cy="502920"/>
          </a:xfrm>
          <a:prstGeom prst="rect">
            <a:avLst/>
          </a:prstGeom>
          <a:noFill/>
          <a:ln/>
        </p:spPr>
        <p:txBody>
          <a:bodyPr wrap="square" rtlCol="0" anchor="ctr"/>
          <a:lstStyle/>
          <a:p>
            <a:pPr marL="0" indent="0" algn="ctr">
              <a:buNone/>
            </a:pPr>
            <a:r>
              <a:rPr lang="en-US" sz="1100" dirty="0">
                <a:solidFill>
                  <a:srgbClr val="FFFFFF"/>
                </a:solidFill>
              </a:rPr>
              <a:t>mRNA Platform</a:t>
            </a:r>
            <a:endParaRPr lang="en-US" sz="1100" dirty="0"/>
          </a:p>
        </p:txBody>
      </p:sp>
      <p:sp>
        <p:nvSpPr>
          <p:cNvPr id="28" name="Shape 26"/>
          <p:cNvSpPr/>
          <p:nvPr/>
        </p:nvSpPr>
        <p:spPr>
          <a:xfrm>
            <a:off x="3749040" y="2103120"/>
            <a:ext cx="1417320" cy="594360"/>
          </a:xfrm>
          <a:prstGeom prst="rect">
            <a:avLst/>
          </a:prstGeom>
          <a:solidFill>
            <a:srgbClr val="0D1E35"/>
          </a:solidFill>
          <a:ln w="6350">
            <a:solidFill>
              <a:srgbClr val="1A3A5C"/>
            </a:solidFill>
            <a:prstDash val="solid"/>
          </a:ln>
        </p:spPr>
      </p:sp>
      <p:sp>
        <p:nvSpPr>
          <p:cNvPr id="29" name="Text 27"/>
          <p:cNvSpPr/>
          <p:nvPr/>
        </p:nvSpPr>
        <p:spPr>
          <a:xfrm>
            <a:off x="3794760" y="2130552"/>
            <a:ext cx="1371600" cy="502920"/>
          </a:xfrm>
          <a:prstGeom prst="rect">
            <a:avLst/>
          </a:prstGeom>
          <a:noFill/>
          <a:ln/>
        </p:spPr>
        <p:txBody>
          <a:bodyPr wrap="square" rtlCol="0" anchor="ctr"/>
          <a:lstStyle/>
          <a:p>
            <a:pPr marL="0" indent="0" algn="ctr">
              <a:buNone/>
            </a:pPr>
            <a:r>
              <a:rPr lang="en-US" sz="1100" dirty="0">
                <a:solidFill>
                  <a:srgbClr val="FFFFFF"/>
                </a:solidFill>
              </a:rPr>
              <a:t>★★★★★</a:t>
            </a:r>
            <a:endParaRPr lang="en-US" sz="1100" dirty="0"/>
          </a:p>
        </p:txBody>
      </p:sp>
      <p:sp>
        <p:nvSpPr>
          <p:cNvPr id="30" name="Shape 28"/>
          <p:cNvSpPr/>
          <p:nvPr/>
        </p:nvSpPr>
        <p:spPr>
          <a:xfrm>
            <a:off x="5212080" y="2103120"/>
            <a:ext cx="1783080" cy="594360"/>
          </a:xfrm>
          <a:prstGeom prst="rect">
            <a:avLst/>
          </a:prstGeom>
          <a:solidFill>
            <a:srgbClr val="0D1E35"/>
          </a:solidFill>
          <a:ln w="6350">
            <a:solidFill>
              <a:srgbClr val="1A3A5C"/>
            </a:solidFill>
            <a:prstDash val="solid"/>
          </a:ln>
        </p:spPr>
      </p:sp>
      <p:sp>
        <p:nvSpPr>
          <p:cNvPr id="31" name="Text 29"/>
          <p:cNvSpPr/>
          <p:nvPr/>
        </p:nvSpPr>
        <p:spPr>
          <a:xfrm>
            <a:off x="5257800" y="2130552"/>
            <a:ext cx="1737360" cy="502920"/>
          </a:xfrm>
          <a:prstGeom prst="rect">
            <a:avLst/>
          </a:prstGeom>
          <a:noFill/>
          <a:ln/>
        </p:spPr>
        <p:txBody>
          <a:bodyPr wrap="square" rtlCol="0" anchor="ctr"/>
          <a:lstStyle/>
          <a:p>
            <a:pPr marL="0" indent="0" algn="ctr">
              <a:buNone/>
            </a:pPr>
            <a:r>
              <a:rPr lang="en-US" sz="1100" dirty="0">
                <a:solidFill>
                  <a:srgbClr val="FFFFFF"/>
                </a:solidFill>
              </a:rPr>
              <a:t>BNT162b2</a:t>
            </a:r>
            <a:endParaRPr lang="en-US" sz="1100" dirty="0"/>
          </a:p>
        </p:txBody>
      </p:sp>
      <p:sp>
        <p:nvSpPr>
          <p:cNvPr id="32" name="Shape 30"/>
          <p:cNvSpPr/>
          <p:nvPr/>
        </p:nvSpPr>
        <p:spPr>
          <a:xfrm>
            <a:off x="7040880" y="2103120"/>
            <a:ext cx="1783080" cy="594360"/>
          </a:xfrm>
          <a:prstGeom prst="rect">
            <a:avLst/>
          </a:prstGeom>
          <a:solidFill>
            <a:srgbClr val="0D1E35"/>
          </a:solidFill>
          <a:ln w="6350">
            <a:solidFill>
              <a:srgbClr val="1A3A5C"/>
            </a:solidFill>
            <a:prstDash val="solid"/>
          </a:ln>
        </p:spPr>
      </p:sp>
      <p:sp>
        <p:nvSpPr>
          <p:cNvPr id="33" name="Text 31"/>
          <p:cNvSpPr/>
          <p:nvPr/>
        </p:nvSpPr>
        <p:spPr>
          <a:xfrm>
            <a:off x="7086600" y="2130552"/>
            <a:ext cx="1737360" cy="502920"/>
          </a:xfrm>
          <a:prstGeom prst="rect">
            <a:avLst/>
          </a:prstGeom>
          <a:noFill/>
          <a:ln/>
        </p:spPr>
        <p:txBody>
          <a:bodyPr wrap="square" rtlCol="0" anchor="ctr"/>
          <a:lstStyle/>
          <a:p>
            <a:pPr marL="0" indent="0" algn="ctr">
              <a:buNone/>
            </a:pPr>
            <a:r>
              <a:rPr lang="en-US" sz="1100" dirty="0">
                <a:solidFill>
                  <a:srgbClr val="FFFFFF"/>
                </a:solidFill>
              </a:rPr>
              <a:t>Vaccines + Oncology</a:t>
            </a:r>
            <a:endParaRPr lang="en-US" sz="1100" dirty="0"/>
          </a:p>
        </p:txBody>
      </p:sp>
      <p:sp>
        <p:nvSpPr>
          <p:cNvPr id="34" name="Shape 32"/>
          <p:cNvSpPr/>
          <p:nvPr/>
        </p:nvSpPr>
        <p:spPr>
          <a:xfrm>
            <a:off x="274320" y="2743200"/>
            <a:ext cx="1600200" cy="594360"/>
          </a:xfrm>
          <a:prstGeom prst="rect">
            <a:avLst/>
          </a:prstGeom>
          <a:solidFill>
            <a:srgbClr val="102040"/>
          </a:solidFill>
          <a:ln w="6350">
            <a:solidFill>
              <a:srgbClr val="1A3A5C"/>
            </a:solidFill>
            <a:prstDash val="solid"/>
          </a:ln>
        </p:spPr>
      </p:sp>
      <p:sp>
        <p:nvSpPr>
          <p:cNvPr id="35" name="Text 33"/>
          <p:cNvSpPr/>
          <p:nvPr/>
        </p:nvSpPr>
        <p:spPr>
          <a:xfrm>
            <a:off x="320040" y="2770632"/>
            <a:ext cx="1554480" cy="502920"/>
          </a:xfrm>
          <a:prstGeom prst="rect">
            <a:avLst/>
          </a:prstGeom>
          <a:noFill/>
          <a:ln/>
        </p:spPr>
        <p:txBody>
          <a:bodyPr wrap="square" rtlCol="0" anchor="ctr"/>
          <a:lstStyle/>
          <a:p>
            <a:pPr marL="0" indent="0" algn="ctr">
              <a:buNone/>
            </a:pPr>
            <a:r>
              <a:rPr lang="en-US" sz="1100" dirty="0">
                <a:solidFill>
                  <a:srgbClr val="FFFFFF"/>
                </a:solidFill>
              </a:rPr>
              <a:t>Johnson &amp; Johnson</a:t>
            </a:r>
            <a:endParaRPr lang="en-US" sz="1100" dirty="0"/>
          </a:p>
        </p:txBody>
      </p:sp>
      <p:sp>
        <p:nvSpPr>
          <p:cNvPr id="36" name="Shape 34"/>
          <p:cNvSpPr/>
          <p:nvPr/>
        </p:nvSpPr>
        <p:spPr>
          <a:xfrm>
            <a:off x="1920240" y="2743200"/>
            <a:ext cx="1783080" cy="594360"/>
          </a:xfrm>
          <a:prstGeom prst="rect">
            <a:avLst/>
          </a:prstGeom>
          <a:solidFill>
            <a:srgbClr val="102040"/>
          </a:solidFill>
          <a:ln w="6350">
            <a:solidFill>
              <a:srgbClr val="1A3A5C"/>
            </a:solidFill>
            <a:prstDash val="solid"/>
          </a:ln>
        </p:spPr>
      </p:sp>
      <p:sp>
        <p:nvSpPr>
          <p:cNvPr id="37" name="Text 35"/>
          <p:cNvSpPr/>
          <p:nvPr/>
        </p:nvSpPr>
        <p:spPr>
          <a:xfrm>
            <a:off x="1965960" y="2770632"/>
            <a:ext cx="1737360" cy="502920"/>
          </a:xfrm>
          <a:prstGeom prst="rect">
            <a:avLst/>
          </a:prstGeom>
          <a:noFill/>
          <a:ln/>
        </p:spPr>
        <p:txBody>
          <a:bodyPr wrap="square" rtlCol="0" anchor="ctr"/>
          <a:lstStyle/>
          <a:p>
            <a:pPr marL="0" indent="0" algn="ctr">
              <a:buNone/>
            </a:pPr>
            <a:r>
              <a:rPr lang="en-US" sz="1100" dirty="0">
                <a:solidFill>
                  <a:srgbClr val="FFFFFF"/>
                </a:solidFill>
              </a:rPr>
              <a:t>Viral Vector</a:t>
            </a:r>
            <a:endParaRPr lang="en-US" sz="1100" dirty="0"/>
          </a:p>
        </p:txBody>
      </p:sp>
      <p:sp>
        <p:nvSpPr>
          <p:cNvPr id="38" name="Shape 36"/>
          <p:cNvSpPr/>
          <p:nvPr/>
        </p:nvSpPr>
        <p:spPr>
          <a:xfrm>
            <a:off x="3749040" y="2743200"/>
            <a:ext cx="1417320" cy="594360"/>
          </a:xfrm>
          <a:prstGeom prst="rect">
            <a:avLst/>
          </a:prstGeom>
          <a:solidFill>
            <a:srgbClr val="102040"/>
          </a:solidFill>
          <a:ln w="6350">
            <a:solidFill>
              <a:srgbClr val="1A3A5C"/>
            </a:solidFill>
            <a:prstDash val="solid"/>
          </a:ln>
        </p:spPr>
      </p:sp>
      <p:sp>
        <p:nvSpPr>
          <p:cNvPr id="39" name="Text 37"/>
          <p:cNvSpPr/>
          <p:nvPr/>
        </p:nvSpPr>
        <p:spPr>
          <a:xfrm>
            <a:off x="3794760" y="2770632"/>
            <a:ext cx="1371600" cy="502920"/>
          </a:xfrm>
          <a:prstGeom prst="rect">
            <a:avLst/>
          </a:prstGeom>
          <a:noFill/>
          <a:ln/>
        </p:spPr>
        <p:txBody>
          <a:bodyPr wrap="square" rtlCol="0" anchor="ctr"/>
          <a:lstStyle/>
          <a:p>
            <a:pPr marL="0" indent="0" algn="ctr">
              <a:buNone/>
            </a:pPr>
            <a:r>
              <a:rPr lang="en-US" sz="1100" dirty="0">
                <a:solidFill>
                  <a:srgbClr val="FFFFFF"/>
                </a:solidFill>
              </a:rPr>
              <a:t>★★☆☆☆</a:t>
            </a:r>
            <a:endParaRPr lang="en-US" sz="1100" dirty="0"/>
          </a:p>
        </p:txBody>
      </p:sp>
      <p:sp>
        <p:nvSpPr>
          <p:cNvPr id="40" name="Shape 38"/>
          <p:cNvSpPr/>
          <p:nvPr/>
        </p:nvSpPr>
        <p:spPr>
          <a:xfrm>
            <a:off x="5212080" y="2743200"/>
            <a:ext cx="1783080" cy="594360"/>
          </a:xfrm>
          <a:prstGeom prst="rect">
            <a:avLst/>
          </a:prstGeom>
          <a:solidFill>
            <a:srgbClr val="102040"/>
          </a:solidFill>
          <a:ln w="6350">
            <a:solidFill>
              <a:srgbClr val="1A3A5C"/>
            </a:solidFill>
            <a:prstDash val="solid"/>
          </a:ln>
        </p:spPr>
      </p:sp>
      <p:sp>
        <p:nvSpPr>
          <p:cNvPr id="41" name="Text 39"/>
          <p:cNvSpPr/>
          <p:nvPr/>
        </p:nvSpPr>
        <p:spPr>
          <a:xfrm>
            <a:off x="5257800" y="2770632"/>
            <a:ext cx="1737360" cy="502920"/>
          </a:xfrm>
          <a:prstGeom prst="rect">
            <a:avLst/>
          </a:prstGeom>
          <a:noFill/>
          <a:ln/>
        </p:spPr>
        <p:txBody>
          <a:bodyPr wrap="square" rtlCol="0" anchor="ctr"/>
          <a:lstStyle/>
          <a:p>
            <a:pPr marL="0" indent="0" algn="ctr">
              <a:buNone/>
            </a:pPr>
            <a:r>
              <a:rPr lang="en-US" sz="1100" dirty="0">
                <a:solidFill>
                  <a:srgbClr val="FFFFFF"/>
                </a:solidFill>
              </a:rPr>
              <a:t>Janssen Vaccine</a:t>
            </a:r>
            <a:endParaRPr lang="en-US" sz="1100" dirty="0"/>
          </a:p>
        </p:txBody>
      </p:sp>
      <p:sp>
        <p:nvSpPr>
          <p:cNvPr id="42" name="Shape 40"/>
          <p:cNvSpPr/>
          <p:nvPr/>
        </p:nvSpPr>
        <p:spPr>
          <a:xfrm>
            <a:off x="7040880" y="2743200"/>
            <a:ext cx="1783080" cy="594360"/>
          </a:xfrm>
          <a:prstGeom prst="rect">
            <a:avLst/>
          </a:prstGeom>
          <a:solidFill>
            <a:srgbClr val="102040"/>
          </a:solidFill>
          <a:ln w="6350">
            <a:solidFill>
              <a:srgbClr val="1A3A5C"/>
            </a:solidFill>
            <a:prstDash val="solid"/>
          </a:ln>
        </p:spPr>
      </p:sp>
      <p:sp>
        <p:nvSpPr>
          <p:cNvPr id="43" name="Text 41"/>
          <p:cNvSpPr/>
          <p:nvPr/>
        </p:nvSpPr>
        <p:spPr>
          <a:xfrm>
            <a:off x="7086600" y="2770632"/>
            <a:ext cx="1737360" cy="502920"/>
          </a:xfrm>
          <a:prstGeom prst="rect">
            <a:avLst/>
          </a:prstGeom>
          <a:noFill/>
          <a:ln/>
        </p:spPr>
        <p:txBody>
          <a:bodyPr wrap="square" rtlCol="0" anchor="ctr"/>
          <a:lstStyle/>
          <a:p>
            <a:pPr marL="0" indent="0" algn="ctr">
              <a:buNone/>
            </a:pPr>
            <a:r>
              <a:rPr lang="en-US" sz="1100" dirty="0">
                <a:solidFill>
                  <a:srgbClr val="FFFFFF"/>
                </a:solidFill>
              </a:rPr>
              <a:t>Infectious Disease</a:t>
            </a:r>
            <a:endParaRPr lang="en-US" sz="1100" dirty="0"/>
          </a:p>
        </p:txBody>
      </p:sp>
      <p:sp>
        <p:nvSpPr>
          <p:cNvPr id="44" name="Shape 42"/>
          <p:cNvSpPr/>
          <p:nvPr/>
        </p:nvSpPr>
        <p:spPr>
          <a:xfrm>
            <a:off x="274320" y="3383280"/>
            <a:ext cx="1600200" cy="594360"/>
          </a:xfrm>
          <a:prstGeom prst="rect">
            <a:avLst/>
          </a:prstGeom>
          <a:solidFill>
            <a:srgbClr val="0D1E35"/>
          </a:solidFill>
          <a:ln w="6350">
            <a:solidFill>
              <a:srgbClr val="1A3A5C"/>
            </a:solidFill>
            <a:prstDash val="solid"/>
          </a:ln>
        </p:spPr>
      </p:sp>
      <p:sp>
        <p:nvSpPr>
          <p:cNvPr id="45" name="Text 43"/>
          <p:cNvSpPr/>
          <p:nvPr/>
        </p:nvSpPr>
        <p:spPr>
          <a:xfrm>
            <a:off x="320040" y="3410712"/>
            <a:ext cx="1554480" cy="502920"/>
          </a:xfrm>
          <a:prstGeom prst="rect">
            <a:avLst/>
          </a:prstGeom>
          <a:noFill/>
          <a:ln/>
        </p:spPr>
        <p:txBody>
          <a:bodyPr wrap="square" rtlCol="0" anchor="ctr"/>
          <a:lstStyle/>
          <a:p>
            <a:pPr marL="0" indent="0" algn="ctr">
              <a:buNone/>
            </a:pPr>
            <a:r>
              <a:rPr lang="en-US" sz="1100" dirty="0">
                <a:solidFill>
                  <a:srgbClr val="FFFFFF"/>
                </a:solidFill>
              </a:rPr>
              <a:t>AstraZeneca</a:t>
            </a:r>
            <a:endParaRPr lang="en-US" sz="1100" dirty="0"/>
          </a:p>
        </p:txBody>
      </p:sp>
      <p:sp>
        <p:nvSpPr>
          <p:cNvPr id="46" name="Shape 44"/>
          <p:cNvSpPr/>
          <p:nvPr/>
        </p:nvSpPr>
        <p:spPr>
          <a:xfrm>
            <a:off x="1920240" y="3383280"/>
            <a:ext cx="1783080" cy="594360"/>
          </a:xfrm>
          <a:prstGeom prst="rect">
            <a:avLst/>
          </a:prstGeom>
          <a:solidFill>
            <a:srgbClr val="0D1E35"/>
          </a:solidFill>
          <a:ln w="6350">
            <a:solidFill>
              <a:srgbClr val="1A3A5C"/>
            </a:solidFill>
            <a:prstDash val="solid"/>
          </a:ln>
        </p:spPr>
      </p:sp>
      <p:sp>
        <p:nvSpPr>
          <p:cNvPr id="47" name="Text 45"/>
          <p:cNvSpPr/>
          <p:nvPr/>
        </p:nvSpPr>
        <p:spPr>
          <a:xfrm>
            <a:off x="1965960" y="3410712"/>
            <a:ext cx="1737360" cy="502920"/>
          </a:xfrm>
          <a:prstGeom prst="rect">
            <a:avLst/>
          </a:prstGeom>
          <a:noFill/>
          <a:ln/>
        </p:spPr>
        <p:txBody>
          <a:bodyPr wrap="square" rtlCol="0" anchor="ctr"/>
          <a:lstStyle/>
          <a:p>
            <a:pPr marL="0" indent="0" algn="ctr">
              <a:buNone/>
            </a:pPr>
            <a:r>
              <a:rPr lang="en-US" sz="1100" dirty="0">
                <a:solidFill>
                  <a:srgbClr val="FFFFFF"/>
                </a:solidFill>
              </a:rPr>
              <a:t>Viral Vector</a:t>
            </a:r>
            <a:endParaRPr lang="en-US" sz="1100" dirty="0"/>
          </a:p>
        </p:txBody>
      </p:sp>
      <p:sp>
        <p:nvSpPr>
          <p:cNvPr id="48" name="Shape 46"/>
          <p:cNvSpPr/>
          <p:nvPr/>
        </p:nvSpPr>
        <p:spPr>
          <a:xfrm>
            <a:off x="3749040" y="3383280"/>
            <a:ext cx="1417320" cy="594360"/>
          </a:xfrm>
          <a:prstGeom prst="rect">
            <a:avLst/>
          </a:prstGeom>
          <a:solidFill>
            <a:srgbClr val="0D1E35"/>
          </a:solidFill>
          <a:ln w="6350">
            <a:solidFill>
              <a:srgbClr val="1A3A5C"/>
            </a:solidFill>
            <a:prstDash val="solid"/>
          </a:ln>
        </p:spPr>
      </p:sp>
      <p:sp>
        <p:nvSpPr>
          <p:cNvPr id="49" name="Text 47"/>
          <p:cNvSpPr/>
          <p:nvPr/>
        </p:nvSpPr>
        <p:spPr>
          <a:xfrm>
            <a:off x="3794760" y="3410712"/>
            <a:ext cx="1371600" cy="502920"/>
          </a:xfrm>
          <a:prstGeom prst="rect">
            <a:avLst/>
          </a:prstGeom>
          <a:noFill/>
          <a:ln/>
        </p:spPr>
        <p:txBody>
          <a:bodyPr wrap="square" rtlCol="0" anchor="ctr"/>
          <a:lstStyle/>
          <a:p>
            <a:pPr marL="0" indent="0" algn="ctr">
              <a:buNone/>
            </a:pPr>
            <a:r>
              <a:rPr lang="en-US" sz="1100" dirty="0">
                <a:solidFill>
                  <a:srgbClr val="FFFFFF"/>
                </a:solidFill>
              </a:rPr>
              <a:t>★★☆☆☆</a:t>
            </a:r>
            <a:endParaRPr lang="en-US" sz="1100" dirty="0"/>
          </a:p>
        </p:txBody>
      </p:sp>
      <p:sp>
        <p:nvSpPr>
          <p:cNvPr id="50" name="Shape 48"/>
          <p:cNvSpPr/>
          <p:nvPr/>
        </p:nvSpPr>
        <p:spPr>
          <a:xfrm>
            <a:off x="5212080" y="3383280"/>
            <a:ext cx="1783080" cy="594360"/>
          </a:xfrm>
          <a:prstGeom prst="rect">
            <a:avLst/>
          </a:prstGeom>
          <a:solidFill>
            <a:srgbClr val="0D1E35"/>
          </a:solidFill>
          <a:ln w="6350">
            <a:solidFill>
              <a:srgbClr val="1A3A5C"/>
            </a:solidFill>
            <a:prstDash val="solid"/>
          </a:ln>
        </p:spPr>
      </p:sp>
      <p:sp>
        <p:nvSpPr>
          <p:cNvPr id="51" name="Text 49"/>
          <p:cNvSpPr/>
          <p:nvPr/>
        </p:nvSpPr>
        <p:spPr>
          <a:xfrm>
            <a:off x="5257800" y="3410712"/>
            <a:ext cx="1737360" cy="502920"/>
          </a:xfrm>
          <a:prstGeom prst="rect">
            <a:avLst/>
          </a:prstGeom>
          <a:noFill/>
          <a:ln/>
        </p:spPr>
        <p:txBody>
          <a:bodyPr wrap="square" rtlCol="0" anchor="ctr"/>
          <a:lstStyle/>
          <a:p>
            <a:pPr marL="0" indent="0" algn="ctr">
              <a:buNone/>
            </a:pPr>
            <a:r>
              <a:rPr lang="en-US" sz="1100" dirty="0">
                <a:solidFill>
                  <a:srgbClr val="FFFFFF"/>
                </a:solidFill>
              </a:rPr>
              <a:t>ChAdOx1-S</a:t>
            </a:r>
            <a:endParaRPr lang="en-US" sz="1100" dirty="0"/>
          </a:p>
        </p:txBody>
      </p:sp>
      <p:sp>
        <p:nvSpPr>
          <p:cNvPr id="52" name="Shape 50"/>
          <p:cNvSpPr/>
          <p:nvPr/>
        </p:nvSpPr>
        <p:spPr>
          <a:xfrm>
            <a:off x="7040880" y="3383280"/>
            <a:ext cx="1783080" cy="594360"/>
          </a:xfrm>
          <a:prstGeom prst="rect">
            <a:avLst/>
          </a:prstGeom>
          <a:solidFill>
            <a:srgbClr val="0D1E35"/>
          </a:solidFill>
          <a:ln w="6350">
            <a:solidFill>
              <a:srgbClr val="1A3A5C"/>
            </a:solidFill>
            <a:prstDash val="solid"/>
          </a:ln>
        </p:spPr>
      </p:sp>
      <p:sp>
        <p:nvSpPr>
          <p:cNvPr id="53" name="Text 51"/>
          <p:cNvSpPr/>
          <p:nvPr/>
        </p:nvSpPr>
        <p:spPr>
          <a:xfrm>
            <a:off x="7086600" y="3410712"/>
            <a:ext cx="1737360" cy="502920"/>
          </a:xfrm>
          <a:prstGeom prst="rect">
            <a:avLst/>
          </a:prstGeom>
          <a:noFill/>
          <a:ln/>
        </p:spPr>
        <p:txBody>
          <a:bodyPr wrap="square" rtlCol="0" anchor="ctr"/>
          <a:lstStyle/>
          <a:p>
            <a:pPr marL="0" indent="0" algn="ctr">
              <a:buNone/>
            </a:pPr>
            <a:r>
              <a:rPr lang="en-US" sz="1100" dirty="0">
                <a:solidFill>
                  <a:srgbClr val="FFFFFF"/>
                </a:solidFill>
              </a:rPr>
              <a:t>Oncology + Vaccines</a:t>
            </a:r>
            <a:endParaRPr lang="en-US" sz="1100" dirty="0"/>
          </a:p>
        </p:txBody>
      </p:sp>
      <p:sp>
        <p:nvSpPr>
          <p:cNvPr id="54" name="Shape 52"/>
          <p:cNvSpPr/>
          <p:nvPr/>
        </p:nvSpPr>
        <p:spPr>
          <a:xfrm>
            <a:off x="274320" y="4023360"/>
            <a:ext cx="1600200" cy="594360"/>
          </a:xfrm>
          <a:prstGeom prst="rect">
            <a:avLst/>
          </a:prstGeom>
          <a:solidFill>
            <a:srgbClr val="102040"/>
          </a:solidFill>
          <a:ln w="6350">
            <a:solidFill>
              <a:srgbClr val="1A3A5C"/>
            </a:solidFill>
            <a:prstDash val="solid"/>
          </a:ln>
        </p:spPr>
      </p:sp>
      <p:sp>
        <p:nvSpPr>
          <p:cNvPr id="55" name="Text 53"/>
          <p:cNvSpPr/>
          <p:nvPr/>
        </p:nvSpPr>
        <p:spPr>
          <a:xfrm>
            <a:off x="320040" y="4050792"/>
            <a:ext cx="1554480" cy="502920"/>
          </a:xfrm>
          <a:prstGeom prst="rect">
            <a:avLst/>
          </a:prstGeom>
          <a:noFill/>
          <a:ln/>
        </p:spPr>
        <p:txBody>
          <a:bodyPr wrap="square" rtlCol="0" anchor="ctr"/>
          <a:lstStyle/>
          <a:p>
            <a:pPr marL="0" indent="0" algn="ctr">
              <a:buNone/>
            </a:pPr>
            <a:r>
              <a:rPr lang="en-US" sz="1100" dirty="0">
                <a:solidFill>
                  <a:srgbClr val="FFFFFF"/>
                </a:solidFill>
              </a:rPr>
              <a:t>Novavax</a:t>
            </a:r>
            <a:endParaRPr lang="en-US" sz="1100" dirty="0"/>
          </a:p>
        </p:txBody>
      </p:sp>
      <p:sp>
        <p:nvSpPr>
          <p:cNvPr id="56" name="Shape 54"/>
          <p:cNvSpPr/>
          <p:nvPr/>
        </p:nvSpPr>
        <p:spPr>
          <a:xfrm>
            <a:off x="1920240" y="4023360"/>
            <a:ext cx="1783080" cy="594360"/>
          </a:xfrm>
          <a:prstGeom prst="rect">
            <a:avLst/>
          </a:prstGeom>
          <a:solidFill>
            <a:srgbClr val="102040"/>
          </a:solidFill>
          <a:ln w="6350">
            <a:solidFill>
              <a:srgbClr val="1A3A5C"/>
            </a:solidFill>
            <a:prstDash val="solid"/>
          </a:ln>
        </p:spPr>
      </p:sp>
      <p:sp>
        <p:nvSpPr>
          <p:cNvPr id="57" name="Text 55"/>
          <p:cNvSpPr/>
          <p:nvPr/>
        </p:nvSpPr>
        <p:spPr>
          <a:xfrm>
            <a:off x="1965960" y="4050792"/>
            <a:ext cx="1737360" cy="502920"/>
          </a:xfrm>
          <a:prstGeom prst="rect">
            <a:avLst/>
          </a:prstGeom>
          <a:noFill/>
          <a:ln/>
        </p:spPr>
        <p:txBody>
          <a:bodyPr wrap="square" rtlCol="0" anchor="ctr"/>
          <a:lstStyle/>
          <a:p>
            <a:pPr marL="0" indent="0" algn="ctr">
              <a:buNone/>
            </a:pPr>
            <a:r>
              <a:rPr lang="en-US" sz="1100" dirty="0">
                <a:solidFill>
                  <a:srgbClr val="FFFFFF"/>
                </a:solidFill>
              </a:rPr>
              <a:t>Protein Subunit</a:t>
            </a:r>
            <a:endParaRPr lang="en-US" sz="1100" dirty="0"/>
          </a:p>
        </p:txBody>
      </p:sp>
      <p:sp>
        <p:nvSpPr>
          <p:cNvPr id="58" name="Shape 56"/>
          <p:cNvSpPr/>
          <p:nvPr/>
        </p:nvSpPr>
        <p:spPr>
          <a:xfrm>
            <a:off x="3749040" y="4023360"/>
            <a:ext cx="1417320" cy="594360"/>
          </a:xfrm>
          <a:prstGeom prst="rect">
            <a:avLst/>
          </a:prstGeom>
          <a:solidFill>
            <a:srgbClr val="102040"/>
          </a:solidFill>
          <a:ln w="6350">
            <a:solidFill>
              <a:srgbClr val="1A3A5C"/>
            </a:solidFill>
            <a:prstDash val="solid"/>
          </a:ln>
        </p:spPr>
      </p:sp>
      <p:sp>
        <p:nvSpPr>
          <p:cNvPr id="59" name="Text 57"/>
          <p:cNvSpPr/>
          <p:nvPr/>
        </p:nvSpPr>
        <p:spPr>
          <a:xfrm>
            <a:off x="3794760" y="4050792"/>
            <a:ext cx="1371600" cy="502920"/>
          </a:xfrm>
          <a:prstGeom prst="rect">
            <a:avLst/>
          </a:prstGeom>
          <a:noFill/>
          <a:ln/>
        </p:spPr>
        <p:txBody>
          <a:bodyPr wrap="square" rtlCol="0" anchor="ctr"/>
          <a:lstStyle/>
          <a:p>
            <a:pPr marL="0" indent="0" algn="ctr">
              <a:buNone/>
            </a:pPr>
            <a:r>
              <a:rPr lang="en-US" sz="1100" dirty="0">
                <a:solidFill>
                  <a:srgbClr val="FFFFFF"/>
                </a:solidFill>
              </a:rPr>
              <a:t>★☆☆☆☆</a:t>
            </a:r>
            <a:endParaRPr lang="en-US" sz="1100" dirty="0"/>
          </a:p>
        </p:txBody>
      </p:sp>
      <p:sp>
        <p:nvSpPr>
          <p:cNvPr id="60" name="Shape 58"/>
          <p:cNvSpPr/>
          <p:nvPr/>
        </p:nvSpPr>
        <p:spPr>
          <a:xfrm>
            <a:off x="5212080" y="4023360"/>
            <a:ext cx="1783080" cy="594360"/>
          </a:xfrm>
          <a:prstGeom prst="rect">
            <a:avLst/>
          </a:prstGeom>
          <a:solidFill>
            <a:srgbClr val="102040"/>
          </a:solidFill>
          <a:ln w="6350">
            <a:solidFill>
              <a:srgbClr val="1A3A5C"/>
            </a:solidFill>
            <a:prstDash val="solid"/>
          </a:ln>
        </p:spPr>
      </p:sp>
      <p:sp>
        <p:nvSpPr>
          <p:cNvPr id="61" name="Text 59"/>
          <p:cNvSpPr/>
          <p:nvPr/>
        </p:nvSpPr>
        <p:spPr>
          <a:xfrm>
            <a:off x="5257800" y="4050792"/>
            <a:ext cx="1737360" cy="502920"/>
          </a:xfrm>
          <a:prstGeom prst="rect">
            <a:avLst/>
          </a:prstGeom>
          <a:noFill/>
          <a:ln/>
        </p:spPr>
        <p:txBody>
          <a:bodyPr wrap="square" rtlCol="0" anchor="ctr"/>
          <a:lstStyle/>
          <a:p>
            <a:pPr marL="0" indent="0" algn="ctr">
              <a:buNone/>
            </a:pPr>
            <a:r>
              <a:rPr lang="en-US" sz="1100" dirty="0">
                <a:solidFill>
                  <a:srgbClr val="FFFFFF"/>
                </a:solidFill>
              </a:rPr>
              <a:t>NVX-CoV2373</a:t>
            </a:r>
            <a:endParaRPr lang="en-US" sz="1100" dirty="0"/>
          </a:p>
        </p:txBody>
      </p:sp>
      <p:sp>
        <p:nvSpPr>
          <p:cNvPr id="62" name="Shape 60"/>
          <p:cNvSpPr/>
          <p:nvPr/>
        </p:nvSpPr>
        <p:spPr>
          <a:xfrm>
            <a:off x="7040880" y="4023360"/>
            <a:ext cx="1783080" cy="594360"/>
          </a:xfrm>
          <a:prstGeom prst="rect">
            <a:avLst/>
          </a:prstGeom>
          <a:solidFill>
            <a:srgbClr val="102040"/>
          </a:solidFill>
          <a:ln w="6350">
            <a:solidFill>
              <a:srgbClr val="1A3A5C"/>
            </a:solidFill>
            <a:prstDash val="solid"/>
          </a:ln>
        </p:spPr>
      </p:sp>
      <p:sp>
        <p:nvSpPr>
          <p:cNvPr id="63" name="Text 61"/>
          <p:cNvSpPr/>
          <p:nvPr/>
        </p:nvSpPr>
        <p:spPr>
          <a:xfrm>
            <a:off x="7086600" y="4050792"/>
            <a:ext cx="1737360" cy="502920"/>
          </a:xfrm>
          <a:prstGeom prst="rect">
            <a:avLst/>
          </a:prstGeom>
          <a:noFill/>
          <a:ln/>
        </p:spPr>
        <p:txBody>
          <a:bodyPr wrap="square" rtlCol="0" anchor="ctr"/>
          <a:lstStyle/>
          <a:p>
            <a:pPr marL="0" indent="0" algn="ctr">
              <a:buNone/>
            </a:pPr>
            <a:r>
              <a:rPr lang="en-US" sz="1100" dirty="0">
                <a:solidFill>
                  <a:srgbClr val="FFFFFF"/>
                </a:solidFill>
              </a:rPr>
              <a:t>Vaccines</a:t>
            </a:r>
            <a:endParaRPr lang="en-US" sz="1100" dirty="0"/>
          </a:p>
        </p:txBody>
      </p:sp>
      <p:sp>
        <p:nvSpPr>
          <p:cNvPr id="64" name="Text 62"/>
          <p:cNvSpPr/>
          <p:nvPr/>
        </p:nvSpPr>
        <p:spPr>
          <a:xfrm>
            <a:off x="274320" y="4709160"/>
            <a:ext cx="8595360" cy="320040"/>
          </a:xfrm>
          <a:prstGeom prst="rect">
            <a:avLst/>
          </a:prstGeom>
          <a:noFill/>
          <a:ln/>
        </p:spPr>
        <p:txBody>
          <a:bodyPr wrap="square" rtlCol="0" anchor="ctr"/>
          <a:lstStyle/>
          <a:p>
            <a:pPr marL="0" indent="0" algn="ctr">
              <a:buNone/>
            </a:pPr>
            <a:r>
              <a:rPr lang="en-US" sz="1000" dirty="0">
                <a:solidFill>
                  <a:srgbClr val="8C9BAD"/>
                </a:solidFill>
              </a:rPr>
              <a:t>★ = mRNA Capability Rating   |   Moderna and BioNTech are the only pure-play mRNA companies at scale</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0C9A7"/>
          </a:solidFill>
          <a:ln/>
        </p:spPr>
      </p:sp>
      <p:sp>
        <p:nvSpPr>
          <p:cNvPr id="3" name="Text 1"/>
          <p:cNvSpPr/>
          <p:nvPr/>
        </p:nvSpPr>
        <p:spPr>
          <a:xfrm>
            <a:off x="365760" y="182880"/>
            <a:ext cx="8229600" cy="594360"/>
          </a:xfrm>
          <a:prstGeom prst="rect">
            <a:avLst/>
          </a:prstGeom>
          <a:noFill/>
          <a:ln/>
        </p:spPr>
        <p:txBody>
          <a:bodyPr wrap="square" rtlCol="0" anchor="ctr"/>
          <a:lstStyle/>
          <a:p>
            <a:pPr marL="0" indent="0">
              <a:buNone/>
            </a:pPr>
            <a:r>
              <a:rPr lang="en-US" sz="2200" b="1" dirty="0">
                <a:solidFill>
                  <a:srgbClr val="0A1628"/>
                </a:solidFill>
              </a:rPr>
              <a:t>Future Outlook &amp; Strategic Vision</a:t>
            </a:r>
            <a:endParaRPr lang="en-US" sz="2200" dirty="0"/>
          </a:p>
        </p:txBody>
      </p:sp>
      <p:sp>
        <p:nvSpPr>
          <p:cNvPr id="4" name="Shape 2"/>
          <p:cNvSpPr/>
          <p:nvPr/>
        </p:nvSpPr>
        <p:spPr>
          <a:xfrm>
            <a:off x="274320" y="1051560"/>
            <a:ext cx="1188720" cy="822960"/>
          </a:xfrm>
          <a:prstGeom prst="rect">
            <a:avLst/>
          </a:prstGeom>
          <a:solidFill>
            <a:srgbClr val="00C9A7"/>
          </a:solidFill>
          <a:ln/>
        </p:spPr>
      </p:sp>
      <p:sp>
        <p:nvSpPr>
          <p:cNvPr id="5" name="Text 3"/>
          <p:cNvSpPr/>
          <p:nvPr/>
        </p:nvSpPr>
        <p:spPr>
          <a:xfrm>
            <a:off x="274320" y="1051560"/>
            <a:ext cx="1188720" cy="822960"/>
          </a:xfrm>
          <a:prstGeom prst="rect">
            <a:avLst/>
          </a:prstGeom>
          <a:noFill/>
          <a:ln/>
        </p:spPr>
        <p:txBody>
          <a:bodyPr wrap="square" rtlCol="0" anchor="ctr"/>
          <a:lstStyle/>
          <a:p>
            <a:pPr marL="0" indent="0" algn="ctr">
              <a:buNone/>
            </a:pPr>
            <a:r>
              <a:rPr lang="en-US" sz="1200" b="1" dirty="0">
                <a:solidFill>
                  <a:srgbClr val="FFFFFF"/>
                </a:solidFill>
              </a:rPr>
              <a:t>2025–26</a:t>
            </a:r>
            <a:endParaRPr lang="en-US" sz="1200" dirty="0"/>
          </a:p>
        </p:txBody>
      </p:sp>
      <p:sp>
        <p:nvSpPr>
          <p:cNvPr id="6" name="Shape 4"/>
          <p:cNvSpPr/>
          <p:nvPr/>
        </p:nvSpPr>
        <p:spPr>
          <a:xfrm>
            <a:off x="1508760" y="1051560"/>
            <a:ext cx="7315200" cy="822960"/>
          </a:xfrm>
          <a:prstGeom prst="rect">
            <a:avLst/>
          </a:prstGeom>
          <a:solidFill>
            <a:srgbClr val="F4F6F9"/>
          </a:solidFill>
          <a:ln w="6350">
            <a:solidFill>
              <a:srgbClr val="E0E6EF"/>
            </a:solidFill>
            <a:prstDash val="solid"/>
          </a:ln>
        </p:spPr>
      </p:sp>
      <p:sp>
        <p:nvSpPr>
          <p:cNvPr id="7" name="Text 5"/>
          <p:cNvSpPr/>
          <p:nvPr/>
        </p:nvSpPr>
        <p:spPr>
          <a:xfrm>
            <a:off x="1645920" y="1097280"/>
            <a:ext cx="7040880" cy="320040"/>
          </a:xfrm>
          <a:prstGeom prst="rect">
            <a:avLst/>
          </a:prstGeom>
          <a:noFill/>
          <a:ln/>
        </p:spPr>
        <p:txBody>
          <a:bodyPr wrap="square" rtlCol="0" anchor="ctr"/>
          <a:lstStyle/>
          <a:p>
            <a:pPr marL="0" indent="0">
              <a:buNone/>
            </a:pPr>
            <a:r>
              <a:rPr lang="en-US" sz="1300" b="1" dirty="0">
                <a:solidFill>
                  <a:srgbClr val="0A1628"/>
                </a:solidFill>
              </a:rPr>
              <a:t>Cancer Vaccine Approvals</a:t>
            </a:r>
            <a:endParaRPr lang="en-US" sz="1300" dirty="0"/>
          </a:p>
        </p:txBody>
      </p:sp>
      <p:sp>
        <p:nvSpPr>
          <p:cNvPr id="8" name="Text 6"/>
          <p:cNvSpPr/>
          <p:nvPr/>
        </p:nvSpPr>
        <p:spPr>
          <a:xfrm>
            <a:off x="1645920" y="1463040"/>
            <a:ext cx="7040880" cy="411480"/>
          </a:xfrm>
          <a:prstGeom prst="rect">
            <a:avLst/>
          </a:prstGeom>
          <a:noFill/>
          <a:ln/>
        </p:spPr>
        <p:txBody>
          <a:bodyPr wrap="square" rtlCol="0" anchor="ctr"/>
          <a:lstStyle/>
          <a:p>
            <a:pPr marL="0" indent="0">
              <a:buNone/>
            </a:pPr>
            <a:r>
              <a:rPr lang="en-US" sz="1100" dirty="0">
                <a:solidFill>
                  <a:srgbClr val="1A2B40"/>
                </a:solidFill>
              </a:rPr>
              <a:t>Personalized mRNA cancer vaccine (mRNA-4157) targeting melanoma and other cancers, pending Phase 3 results with Merck partnership.</a:t>
            </a:r>
            <a:endParaRPr lang="en-US" sz="1100" dirty="0"/>
          </a:p>
        </p:txBody>
      </p:sp>
      <p:sp>
        <p:nvSpPr>
          <p:cNvPr id="9" name="Shape 7"/>
          <p:cNvSpPr/>
          <p:nvPr/>
        </p:nvSpPr>
        <p:spPr>
          <a:xfrm>
            <a:off x="274320" y="2057400"/>
            <a:ext cx="1188720" cy="822960"/>
          </a:xfrm>
          <a:prstGeom prst="rect">
            <a:avLst/>
          </a:prstGeom>
          <a:solidFill>
            <a:srgbClr val="5B5FEF"/>
          </a:solidFill>
          <a:ln/>
        </p:spPr>
      </p:sp>
      <p:sp>
        <p:nvSpPr>
          <p:cNvPr id="10" name="Text 8"/>
          <p:cNvSpPr/>
          <p:nvPr/>
        </p:nvSpPr>
        <p:spPr>
          <a:xfrm>
            <a:off x="274320" y="2057400"/>
            <a:ext cx="1188720" cy="822960"/>
          </a:xfrm>
          <a:prstGeom prst="rect">
            <a:avLst/>
          </a:prstGeom>
          <a:noFill/>
          <a:ln/>
        </p:spPr>
        <p:txBody>
          <a:bodyPr wrap="square" rtlCol="0" anchor="ctr"/>
          <a:lstStyle/>
          <a:p>
            <a:pPr marL="0" indent="0" algn="ctr">
              <a:buNone/>
            </a:pPr>
            <a:r>
              <a:rPr lang="en-US" sz="1200" b="1" dirty="0">
                <a:solidFill>
                  <a:srgbClr val="FFFFFF"/>
                </a:solidFill>
              </a:rPr>
              <a:t>2026–27</a:t>
            </a:r>
            <a:endParaRPr lang="en-US" sz="1200" dirty="0"/>
          </a:p>
        </p:txBody>
      </p:sp>
      <p:sp>
        <p:nvSpPr>
          <p:cNvPr id="11" name="Shape 9"/>
          <p:cNvSpPr/>
          <p:nvPr/>
        </p:nvSpPr>
        <p:spPr>
          <a:xfrm>
            <a:off x="1508760" y="2057400"/>
            <a:ext cx="7315200" cy="822960"/>
          </a:xfrm>
          <a:prstGeom prst="rect">
            <a:avLst/>
          </a:prstGeom>
          <a:solidFill>
            <a:srgbClr val="F4F6F9"/>
          </a:solidFill>
          <a:ln w="6350">
            <a:solidFill>
              <a:srgbClr val="E0E6EF"/>
            </a:solidFill>
            <a:prstDash val="solid"/>
          </a:ln>
        </p:spPr>
      </p:sp>
      <p:sp>
        <p:nvSpPr>
          <p:cNvPr id="12" name="Text 10"/>
          <p:cNvSpPr/>
          <p:nvPr/>
        </p:nvSpPr>
        <p:spPr>
          <a:xfrm>
            <a:off x="1645920" y="2103120"/>
            <a:ext cx="7040880" cy="320040"/>
          </a:xfrm>
          <a:prstGeom prst="rect">
            <a:avLst/>
          </a:prstGeom>
          <a:noFill/>
          <a:ln/>
        </p:spPr>
        <p:txBody>
          <a:bodyPr wrap="square" rtlCol="0" anchor="ctr"/>
          <a:lstStyle/>
          <a:p>
            <a:pPr marL="0" indent="0">
              <a:buNone/>
            </a:pPr>
            <a:r>
              <a:rPr lang="en-US" sz="1300" b="1" dirty="0">
                <a:solidFill>
                  <a:srgbClr val="0A1628"/>
                </a:solidFill>
              </a:rPr>
              <a:t>Flu + COVID Combo</a:t>
            </a:r>
            <a:endParaRPr lang="en-US" sz="1300" dirty="0"/>
          </a:p>
        </p:txBody>
      </p:sp>
      <p:sp>
        <p:nvSpPr>
          <p:cNvPr id="13" name="Text 11"/>
          <p:cNvSpPr/>
          <p:nvPr/>
        </p:nvSpPr>
        <p:spPr>
          <a:xfrm>
            <a:off x="1645920" y="2468880"/>
            <a:ext cx="7040880" cy="411480"/>
          </a:xfrm>
          <a:prstGeom prst="rect">
            <a:avLst/>
          </a:prstGeom>
          <a:noFill/>
          <a:ln/>
        </p:spPr>
        <p:txBody>
          <a:bodyPr wrap="square" rtlCol="0" anchor="ctr"/>
          <a:lstStyle/>
          <a:p>
            <a:pPr marL="0" indent="0">
              <a:buNone/>
            </a:pPr>
            <a:r>
              <a:rPr lang="en-US" sz="1100" dirty="0">
                <a:solidFill>
                  <a:srgbClr val="1A2B40"/>
                </a:solidFill>
              </a:rPr>
              <a:t>Combined annual influenza and COVID-19 booster in single mRNA shot — aims to replace separate annual flu vaccines.</a:t>
            </a:r>
            <a:endParaRPr lang="en-US" sz="1100" dirty="0"/>
          </a:p>
        </p:txBody>
      </p:sp>
      <p:sp>
        <p:nvSpPr>
          <p:cNvPr id="14" name="Shape 12"/>
          <p:cNvSpPr/>
          <p:nvPr/>
        </p:nvSpPr>
        <p:spPr>
          <a:xfrm>
            <a:off x="274320" y="3063240"/>
            <a:ext cx="1188720" cy="822960"/>
          </a:xfrm>
          <a:prstGeom prst="rect">
            <a:avLst/>
          </a:prstGeom>
          <a:solidFill>
            <a:srgbClr val="FF6B6B"/>
          </a:solidFill>
          <a:ln/>
        </p:spPr>
      </p:sp>
      <p:sp>
        <p:nvSpPr>
          <p:cNvPr id="15" name="Text 13"/>
          <p:cNvSpPr/>
          <p:nvPr/>
        </p:nvSpPr>
        <p:spPr>
          <a:xfrm>
            <a:off x="274320" y="3063240"/>
            <a:ext cx="1188720" cy="822960"/>
          </a:xfrm>
          <a:prstGeom prst="rect">
            <a:avLst/>
          </a:prstGeom>
          <a:noFill/>
          <a:ln/>
        </p:spPr>
        <p:txBody>
          <a:bodyPr wrap="square" rtlCol="0" anchor="ctr"/>
          <a:lstStyle/>
          <a:p>
            <a:pPr marL="0" indent="0" algn="ctr">
              <a:buNone/>
            </a:pPr>
            <a:r>
              <a:rPr lang="en-US" sz="1200" b="1" dirty="0">
                <a:solidFill>
                  <a:srgbClr val="FFFFFF"/>
                </a:solidFill>
              </a:rPr>
              <a:t>2027–28</a:t>
            </a:r>
            <a:endParaRPr lang="en-US" sz="1200" dirty="0"/>
          </a:p>
        </p:txBody>
      </p:sp>
      <p:sp>
        <p:nvSpPr>
          <p:cNvPr id="16" name="Shape 14"/>
          <p:cNvSpPr/>
          <p:nvPr/>
        </p:nvSpPr>
        <p:spPr>
          <a:xfrm>
            <a:off x="1508760" y="3063240"/>
            <a:ext cx="7315200" cy="822960"/>
          </a:xfrm>
          <a:prstGeom prst="rect">
            <a:avLst/>
          </a:prstGeom>
          <a:solidFill>
            <a:srgbClr val="F4F6F9"/>
          </a:solidFill>
          <a:ln w="6350">
            <a:solidFill>
              <a:srgbClr val="E0E6EF"/>
            </a:solidFill>
            <a:prstDash val="solid"/>
          </a:ln>
        </p:spPr>
      </p:sp>
      <p:sp>
        <p:nvSpPr>
          <p:cNvPr id="17" name="Text 15"/>
          <p:cNvSpPr/>
          <p:nvPr/>
        </p:nvSpPr>
        <p:spPr>
          <a:xfrm>
            <a:off x="1645920" y="3108960"/>
            <a:ext cx="7040880" cy="320040"/>
          </a:xfrm>
          <a:prstGeom prst="rect">
            <a:avLst/>
          </a:prstGeom>
          <a:noFill/>
          <a:ln/>
        </p:spPr>
        <p:txBody>
          <a:bodyPr wrap="square" rtlCol="0" anchor="ctr"/>
          <a:lstStyle/>
          <a:p>
            <a:pPr marL="0" indent="0">
              <a:buNone/>
            </a:pPr>
            <a:r>
              <a:rPr lang="en-US" sz="1300" b="1" dirty="0">
                <a:solidFill>
                  <a:srgbClr val="0A1628"/>
                </a:solidFill>
              </a:rPr>
              <a:t>HIV &amp; Rare Disease Therapies</a:t>
            </a:r>
            <a:endParaRPr lang="en-US" sz="1300" dirty="0"/>
          </a:p>
        </p:txBody>
      </p:sp>
      <p:sp>
        <p:nvSpPr>
          <p:cNvPr id="18" name="Text 16"/>
          <p:cNvSpPr/>
          <p:nvPr/>
        </p:nvSpPr>
        <p:spPr>
          <a:xfrm>
            <a:off x="1645920" y="3474720"/>
            <a:ext cx="7040880" cy="411480"/>
          </a:xfrm>
          <a:prstGeom prst="rect">
            <a:avLst/>
          </a:prstGeom>
          <a:noFill/>
          <a:ln/>
        </p:spPr>
        <p:txBody>
          <a:bodyPr wrap="square" rtlCol="0" anchor="ctr"/>
          <a:lstStyle/>
          <a:p>
            <a:pPr marL="0" indent="0">
              <a:buNone/>
            </a:pPr>
            <a:r>
              <a:rPr lang="en-US" sz="1100" dirty="0">
                <a:solidFill>
                  <a:srgbClr val="1A2B40"/>
                </a:solidFill>
              </a:rPr>
              <a:t>Targeting HIV prevention with mRNA-based broadly neutralizing antibodies. Also rare genetic disease treatments enter late-stage trials.</a:t>
            </a:r>
            <a:endParaRPr lang="en-US" sz="1100" dirty="0"/>
          </a:p>
        </p:txBody>
      </p:sp>
      <p:sp>
        <p:nvSpPr>
          <p:cNvPr id="19" name="Shape 17"/>
          <p:cNvSpPr/>
          <p:nvPr/>
        </p:nvSpPr>
        <p:spPr>
          <a:xfrm>
            <a:off x="274320" y="4069080"/>
            <a:ext cx="1188720" cy="822960"/>
          </a:xfrm>
          <a:prstGeom prst="rect">
            <a:avLst/>
          </a:prstGeom>
          <a:solidFill>
            <a:srgbClr val="FFB347"/>
          </a:solidFill>
          <a:ln/>
        </p:spPr>
      </p:sp>
      <p:sp>
        <p:nvSpPr>
          <p:cNvPr id="20" name="Text 18"/>
          <p:cNvSpPr/>
          <p:nvPr/>
        </p:nvSpPr>
        <p:spPr>
          <a:xfrm>
            <a:off x="274320" y="4069080"/>
            <a:ext cx="1188720" cy="822960"/>
          </a:xfrm>
          <a:prstGeom prst="rect">
            <a:avLst/>
          </a:prstGeom>
          <a:noFill/>
          <a:ln/>
        </p:spPr>
        <p:txBody>
          <a:bodyPr wrap="square" rtlCol="0" anchor="ctr"/>
          <a:lstStyle/>
          <a:p>
            <a:pPr marL="0" indent="0" algn="ctr">
              <a:buNone/>
            </a:pPr>
            <a:r>
              <a:rPr lang="en-US" sz="1200" b="1" dirty="0">
                <a:solidFill>
                  <a:srgbClr val="FFFFFF"/>
                </a:solidFill>
              </a:rPr>
              <a:t>2028+</a:t>
            </a:r>
            <a:endParaRPr lang="en-US" sz="1200" dirty="0"/>
          </a:p>
        </p:txBody>
      </p:sp>
      <p:sp>
        <p:nvSpPr>
          <p:cNvPr id="21" name="Shape 19"/>
          <p:cNvSpPr/>
          <p:nvPr/>
        </p:nvSpPr>
        <p:spPr>
          <a:xfrm>
            <a:off x="1508760" y="4069080"/>
            <a:ext cx="7315200" cy="822960"/>
          </a:xfrm>
          <a:prstGeom prst="rect">
            <a:avLst/>
          </a:prstGeom>
          <a:solidFill>
            <a:srgbClr val="F4F6F9"/>
          </a:solidFill>
          <a:ln w="6350">
            <a:solidFill>
              <a:srgbClr val="E0E6EF"/>
            </a:solidFill>
            <a:prstDash val="solid"/>
          </a:ln>
        </p:spPr>
      </p:sp>
      <p:sp>
        <p:nvSpPr>
          <p:cNvPr id="22" name="Text 20"/>
          <p:cNvSpPr/>
          <p:nvPr/>
        </p:nvSpPr>
        <p:spPr>
          <a:xfrm>
            <a:off x="1645920" y="4114800"/>
            <a:ext cx="7040880" cy="320040"/>
          </a:xfrm>
          <a:prstGeom prst="rect">
            <a:avLst/>
          </a:prstGeom>
          <a:noFill/>
          <a:ln/>
        </p:spPr>
        <p:txBody>
          <a:bodyPr wrap="square" rtlCol="0" anchor="ctr"/>
          <a:lstStyle/>
          <a:p>
            <a:pPr marL="0" indent="0">
              <a:buNone/>
            </a:pPr>
            <a:r>
              <a:rPr lang="en-US" sz="1300" b="1" dirty="0">
                <a:solidFill>
                  <a:srgbClr val="0A1628"/>
                </a:solidFill>
              </a:rPr>
              <a:t>mRNA as Standard Platform</a:t>
            </a:r>
            <a:endParaRPr lang="en-US" sz="1300" dirty="0"/>
          </a:p>
        </p:txBody>
      </p:sp>
      <p:sp>
        <p:nvSpPr>
          <p:cNvPr id="23" name="Text 21"/>
          <p:cNvSpPr/>
          <p:nvPr/>
        </p:nvSpPr>
        <p:spPr>
          <a:xfrm>
            <a:off x="1645920" y="4480560"/>
            <a:ext cx="7040880" cy="411480"/>
          </a:xfrm>
          <a:prstGeom prst="rect">
            <a:avLst/>
          </a:prstGeom>
          <a:noFill/>
          <a:ln/>
        </p:spPr>
        <p:txBody>
          <a:bodyPr wrap="square" rtlCol="0" anchor="ctr"/>
          <a:lstStyle/>
          <a:p>
            <a:pPr marL="0" indent="0">
              <a:buNone/>
            </a:pPr>
            <a:r>
              <a:rPr lang="en-US" sz="1100" dirty="0">
                <a:solidFill>
                  <a:srgbClr val="1A2B40"/>
                </a:solidFill>
              </a:rPr>
              <a:t>Moderna's vision: mRNA becomes the universal platform for drug development — similar to how biologics transformed medicine in the 1980s–90s.</a:t>
            </a:r>
            <a:endParaRPr lang="en-US" sz="1100" dirty="0"/>
          </a:p>
        </p:txBody>
      </p:sp>
      <p:sp>
        <p:nvSpPr>
          <p:cNvPr id="24" name="Text 22"/>
          <p:cNvSpPr/>
          <p:nvPr/>
        </p:nvSpPr>
        <p:spPr>
          <a:xfrm>
            <a:off x="365760" y="4709160"/>
            <a:ext cx="8412480" cy="320040"/>
          </a:xfrm>
          <a:prstGeom prst="rect">
            <a:avLst/>
          </a:prstGeom>
          <a:noFill/>
          <a:ln/>
        </p:spPr>
        <p:txBody>
          <a:bodyPr wrap="square" rtlCol="0" anchor="ctr"/>
          <a:lstStyle/>
          <a:p>
            <a:pPr marL="0" indent="0" algn="ctr">
              <a:buNone/>
            </a:pPr>
            <a:r>
              <a:rPr lang="en-US" sz="1150" i="1" dirty="0">
                <a:solidFill>
                  <a:srgbClr val="00C9A7"/>
                </a:solidFill>
              </a:rPr>
              <a:t>"We believe mRNA is the software of life — and we are writing the code." — Moderna Leadership</a:t>
            </a:r>
            <a:endParaRPr lang="en-US" sz="11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9A7"/>
          </a:solidFill>
          <a:ln/>
        </p:spPr>
      </p:sp>
      <p:sp>
        <p:nvSpPr>
          <p:cNvPr id="3" name="Shape 1"/>
          <p:cNvSpPr/>
          <p:nvPr/>
        </p:nvSpPr>
        <p:spPr>
          <a:xfrm>
            <a:off x="0" y="5088636"/>
            <a:ext cx="9144000" cy="54864"/>
          </a:xfrm>
          <a:prstGeom prst="rect">
            <a:avLst/>
          </a:prstGeom>
          <a:solidFill>
            <a:srgbClr val="00C9A7"/>
          </a:solidFill>
          <a:ln/>
        </p:spPr>
      </p:sp>
      <p:sp>
        <p:nvSpPr>
          <p:cNvPr id="4" name="Text 2"/>
          <p:cNvSpPr/>
          <p:nvPr/>
        </p:nvSpPr>
        <p:spPr>
          <a:xfrm>
            <a:off x="457200" y="365760"/>
            <a:ext cx="8229600" cy="59436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Conclusion</a:t>
            </a:r>
            <a:endParaRPr lang="en-US" sz="3200" dirty="0"/>
          </a:p>
        </p:txBody>
      </p:sp>
      <p:sp>
        <p:nvSpPr>
          <p:cNvPr id="5" name="Shape 3"/>
          <p:cNvSpPr/>
          <p:nvPr/>
        </p:nvSpPr>
        <p:spPr>
          <a:xfrm>
            <a:off x="457200" y="1005840"/>
            <a:ext cx="2286000" cy="45720"/>
          </a:xfrm>
          <a:prstGeom prst="rect">
            <a:avLst/>
          </a:prstGeom>
          <a:solidFill>
            <a:srgbClr val="00C9A7"/>
          </a:solidFill>
          <a:ln/>
        </p:spPr>
      </p:sp>
      <p:sp>
        <p:nvSpPr>
          <p:cNvPr id="6" name="Text 4"/>
          <p:cNvSpPr/>
          <p:nvPr/>
        </p:nvSpPr>
        <p:spPr>
          <a:xfrm>
            <a:off x="457200" y="1188720"/>
            <a:ext cx="8229600" cy="3200400"/>
          </a:xfrm>
          <a:prstGeom prst="rect">
            <a:avLst/>
          </a:prstGeom>
          <a:noFill/>
          <a:ln/>
        </p:spPr>
        <p:txBody>
          <a:bodyPr wrap="square" rtlCol="0" anchor="ctr"/>
          <a:lstStyle/>
          <a:p>
            <a:pPr marL="342900" indent="-342900">
              <a:lnSpc>
                <a:spcPct val="140000"/>
              </a:lnSpc>
              <a:spcAft>
                <a:spcPts val="1000"/>
              </a:spcAft>
              <a:buSzPct val="100000"/>
              <a:buChar char="•"/>
            </a:pPr>
            <a:r>
              <a:rPr lang="en-US" sz="1350" dirty="0">
                <a:solidFill>
                  <a:srgbClr val="E0F9F4"/>
                </a:solidFill>
              </a:rPr>
              <a:t>Moderna has transformed from a startup into a global biotech leader using a single revolutionary platform — mRNA.</a:t>
            </a:r>
            <a:endParaRPr lang="en-US" sz="1350" dirty="0"/>
          </a:p>
          <a:p>
            <a:pPr marL="342900" indent="-342900">
              <a:lnSpc>
                <a:spcPct val="140000"/>
              </a:lnSpc>
              <a:spcAft>
                <a:spcPts val="1000"/>
              </a:spcAft>
              <a:buSzPct val="100000"/>
              <a:buChar char="•"/>
            </a:pPr>
            <a:r>
              <a:rPr lang="en-US" sz="1350" dirty="0">
                <a:solidFill>
                  <a:srgbClr val="E0F9F4"/>
                </a:solidFill>
              </a:rPr>
              <a:t>The COVID-19 vaccine proved mRNA technology is safe, effective, and scalable at a global level.</a:t>
            </a:r>
            <a:endParaRPr lang="en-US" sz="1350" dirty="0"/>
          </a:p>
          <a:p>
            <a:pPr marL="342900" indent="-342900">
              <a:lnSpc>
                <a:spcPct val="140000"/>
              </a:lnSpc>
              <a:spcAft>
                <a:spcPts val="1000"/>
              </a:spcAft>
              <a:buSzPct val="100000"/>
              <a:buChar char="•"/>
            </a:pPr>
            <a:r>
              <a:rPr lang="en-US" sz="1350" dirty="0">
                <a:solidFill>
                  <a:srgbClr val="E0F9F4"/>
                </a:solidFill>
              </a:rPr>
              <a:t>The pipeline spans oncology, rare diseases, autoimmune, and cardiovascular — indicating massive future potential.</a:t>
            </a:r>
            <a:endParaRPr lang="en-US" sz="1350" dirty="0"/>
          </a:p>
          <a:p>
            <a:pPr marL="342900" indent="-342900">
              <a:lnSpc>
                <a:spcPct val="140000"/>
              </a:lnSpc>
              <a:spcAft>
                <a:spcPts val="1000"/>
              </a:spcAft>
              <a:buSzPct val="100000"/>
              <a:buChar char="•"/>
            </a:pPr>
            <a:r>
              <a:rPr lang="en-US" sz="1350" dirty="0">
                <a:solidFill>
                  <a:srgbClr val="E0F9F4"/>
                </a:solidFill>
              </a:rPr>
              <a:t>Challenges around cold storage, cost, and regulatory pathways must be solved for broader global access.</a:t>
            </a:r>
            <a:endParaRPr lang="en-US" sz="1350" dirty="0"/>
          </a:p>
          <a:p>
            <a:pPr marL="342900" indent="-342900">
              <a:lnSpc>
                <a:spcPct val="140000"/>
              </a:lnSpc>
              <a:spcAft>
                <a:spcPts val="1000"/>
              </a:spcAft>
              <a:buSzPct val="100000"/>
              <a:buChar char="•"/>
            </a:pPr>
            <a:r>
              <a:rPr lang="en-US" sz="1350" dirty="0">
                <a:solidFill>
                  <a:srgbClr val="E0F9F4"/>
                </a:solidFill>
              </a:rPr>
              <a:t>Moderna's long-term success depends on diversifying beyond COVID and establishing mRNA as a mainstream medicine.</a:t>
            </a:r>
            <a:endParaRPr lang="en-US" sz="1350" dirty="0"/>
          </a:p>
        </p:txBody>
      </p:sp>
      <p:sp>
        <p:nvSpPr>
          <p:cNvPr id="7" name="Text 5"/>
          <p:cNvSpPr/>
          <p:nvPr/>
        </p:nvSpPr>
        <p:spPr>
          <a:xfrm>
            <a:off x="386316" y="4526280"/>
            <a:ext cx="8229600" cy="320040"/>
          </a:xfrm>
          <a:prstGeom prst="rect">
            <a:avLst/>
          </a:prstGeom>
          <a:noFill/>
          <a:ln/>
        </p:spPr>
        <p:txBody>
          <a:bodyPr wrap="square" rtlCol="0" anchor="ctr"/>
          <a:lstStyle/>
          <a:p>
            <a:pPr marL="0" indent="0" algn="ctr">
              <a:buNone/>
            </a:pPr>
            <a:endParaRPr lang="en-US" sz="1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981</Words>
  <Application>Microsoft Office PowerPoint</Application>
  <PresentationFormat>On-screen Show (16:9)</PresentationFormat>
  <Paragraphs>167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Moderna - Biotechnology Case Study</dc:title>
  <dc:subject>PptxGenJS Presentation</dc:subject>
  <dc:creator>PptxGenJS</dc:creator>
  <cp:lastModifiedBy>bakht</cp:lastModifiedBy>
  <cp:revision>2</cp:revision>
  <dcterms:created xsi:type="dcterms:W3CDTF">2026-05-24T07:41:09Z</dcterms:created>
  <dcterms:modified xsi:type="dcterms:W3CDTF">2026-05-24T07:49:38Z</dcterms:modified>
</cp:coreProperties>
</file>